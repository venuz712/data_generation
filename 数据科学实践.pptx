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63" r:id="rId3"/>
    <p:sldId id="402" r:id="rId5"/>
    <p:sldId id="424" r:id="rId6"/>
    <p:sldId id="411" r:id="rId7"/>
    <p:sldId id="415" r:id="rId8"/>
    <p:sldId id="413" r:id="rId9"/>
    <p:sldId id="423" r:id="rId10"/>
    <p:sldId id="418" r:id="rId11"/>
    <p:sldId id="426" r:id="rId12"/>
    <p:sldId id="422" r:id="rId13"/>
    <p:sldId id="425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E9C6"/>
    <a:srgbClr val="215B66"/>
    <a:srgbClr val="D5E9F2"/>
    <a:srgbClr val="DCECEC"/>
    <a:srgbClr val="EBF8E7"/>
    <a:srgbClr val="A622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37AC7-D856-4421-84C3-D376A0ED8F0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882D7-5162-4D48-8AE3-AC2DCA4E555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A882D7-5162-4D48-8AE3-AC2DCA4E55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字数太长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研究意义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截图拼图</a:t>
            </a:r>
            <a:r>
              <a:rPr lang="en-US" altLang="zh-CN"/>
              <a:t>/</a:t>
            </a:r>
            <a:r>
              <a:rPr lang="zh-CN" altLang="en-US"/>
              <a:t>拆解</a:t>
            </a:r>
            <a:r>
              <a:rPr lang="en-US" altLang="zh-CN"/>
              <a:t>/</a:t>
            </a:r>
            <a:r>
              <a:rPr lang="zh-CN" altLang="en-US"/>
              <a:t>插入</a:t>
            </a:r>
            <a:r>
              <a:rPr lang="zh-CN" altLang="en-US"/>
              <a:t>遮挡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结合</a:t>
            </a:r>
            <a:r>
              <a:rPr lang="zh-CN" altLang="en-US"/>
              <a:t>图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olidFill>
                  <a:srgbClr val="000000"/>
                </a:solidFill>
                <a:sym typeface="+mn-ea"/>
              </a:rPr>
              <a:t>mirage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内容</a:t>
            </a:r>
            <a:r>
              <a:rPr lang="en-US" altLang="zh-CN">
                <a:solidFill>
                  <a:srgbClr val="000000"/>
                </a:solidFill>
                <a:sym typeface="+mn-ea"/>
              </a:rPr>
              <a:t>+mirage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的缺点</a:t>
            </a:r>
            <a:r>
              <a:rPr lang="en-US" altLang="zh-CN">
                <a:solidFill>
                  <a:srgbClr val="000000"/>
                </a:solidFill>
                <a:sym typeface="+mn-ea"/>
              </a:rPr>
              <a:t>/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英文数据集</a:t>
            </a:r>
            <a:r>
              <a:rPr lang="en-US" altLang="zh-CN">
                <a:solidFill>
                  <a:srgbClr val="000000"/>
                </a:solidFill>
                <a:sym typeface="+mn-ea"/>
              </a:rPr>
              <a:t>+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中文需要角色设置</a:t>
            </a:r>
            <a:r>
              <a:rPr lang="en-US" altLang="zh-CN">
                <a:solidFill>
                  <a:srgbClr val="000000"/>
                </a:solidFill>
                <a:sym typeface="+mn-ea"/>
              </a:rPr>
              <a:t>+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相似度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此前，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mirage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内容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+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覆盖不全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mirage/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英文数据集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+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中文需要角色设置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+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相似度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mirage-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用知识库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-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也可以考虑换一个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标准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7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8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3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5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7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1" name="文本框 20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  <a:endParaRPr lang="zh-CN" altLang="en-US" sz="1600" spc="300" dirty="0">
              <a:solidFill>
                <a:schemeClr val="accent1">
                  <a:alpha val="25000"/>
                </a:schemeClr>
              </a:solidFill>
              <a:latin typeface="管峻楷书简体" panose="02010600010101010101" pitchFamily="2" charset="-122"/>
              <a:ea typeface="管峻楷书简体" panose="02010600010101010101" pitchFamily="2" charset="-122"/>
            </a:endParaRPr>
          </a:p>
        </p:txBody>
      </p:sp>
      <p:sp>
        <p:nvSpPr>
          <p:cNvPr id="23" name="矩形: 圆角 22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25" name="椭圆 24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27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3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4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7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8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4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67" name="文本占位符 65"/>
          <p:cNvSpPr>
            <a:spLocks noGrp="1"/>
          </p:cNvSpPr>
          <p:nvPr userDrawn="1">
            <p:ph type="body" idx="13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图片占位符 1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97285" cy="685800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19" name="组合 18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0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056063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张长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4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</a:fld>
            <a:endParaRPr lang="zh-CN" altLang="en-US"/>
          </a:p>
        </p:txBody>
      </p:sp>
      <p:sp>
        <p:nvSpPr>
          <p:cNvPr id="23" name="图片占位符 22"/>
          <p:cNvSpPr>
            <a:spLocks noGrp="1"/>
          </p:cNvSpPr>
          <p:nvPr>
            <p:ph type="pic" sz="quarter" idx="13"/>
          </p:nvPr>
        </p:nvSpPr>
        <p:spPr>
          <a:xfrm>
            <a:off x="660400" y="1130300"/>
            <a:ext cx="10858500" cy="2817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9" name="文本框 128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  <a:endParaRPr lang="zh-CN" altLang="en-US" sz="1600" spc="300" dirty="0">
              <a:solidFill>
                <a:schemeClr val="accent1">
                  <a:alpha val="25000"/>
                </a:schemeClr>
              </a:solidFill>
              <a:latin typeface="管峻楷书简体" panose="02010600010101010101" pitchFamily="2" charset="-122"/>
              <a:ea typeface="管峻楷书简体" panose="02010600010101010101" pitchFamily="2" charset="-122"/>
            </a:endParaRPr>
          </a:p>
        </p:txBody>
      </p:sp>
      <p:sp>
        <p:nvSpPr>
          <p:cNvPr id="67" name="矩形: 圆角 66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8" name="组合 67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69" name="椭圆 68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0" name="组合 69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71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2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4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6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7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8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0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1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3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0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1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2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3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4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6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7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8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9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0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1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5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6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7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8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9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0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1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2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3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4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5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6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57" name="文本占位符 65"/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838200" y="1301750"/>
            <a:ext cx="5243513" cy="46704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</a:fld>
            <a:endParaRPr lang="zh-CN" altLang="en-US"/>
          </a:p>
        </p:txBody>
      </p:sp>
      <p:grpSp>
        <p:nvGrpSpPr>
          <p:cNvPr id="23" name="组合 22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4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84" name="文本框 83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  <a:endParaRPr lang="zh-CN" altLang="en-US" sz="1600" spc="300" dirty="0">
              <a:solidFill>
                <a:schemeClr val="accent1">
                  <a:alpha val="25000"/>
                </a:schemeClr>
              </a:solidFill>
              <a:latin typeface="管峻楷书简体" panose="02010600010101010101" pitchFamily="2" charset="-122"/>
              <a:ea typeface="管峻楷书简体" panose="02010600010101010101" pitchFamily="2" charset="-122"/>
            </a:endParaRPr>
          </a:p>
        </p:txBody>
      </p:sp>
      <p:sp>
        <p:nvSpPr>
          <p:cNvPr id="85" name="矩形: 圆角 84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6" name="组合 85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7" name="椭圆 86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8" name="组合 87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9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4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5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7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8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29" name="文本占位符 65"/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36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9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0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1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2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3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4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5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6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7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8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9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8" name="图片占位符 16"/>
          <p:cNvSpPr>
            <a:spLocks noGrp="1"/>
          </p:cNvSpPr>
          <p:nvPr>
            <p:ph type="pic" sz="quarter" idx="14"/>
          </p:nvPr>
        </p:nvSpPr>
        <p:spPr>
          <a:xfrm>
            <a:off x="4698494" y="3681942"/>
            <a:ext cx="6819900" cy="24415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3"/>
          </p:nvPr>
        </p:nvSpPr>
        <p:spPr>
          <a:xfrm>
            <a:off x="668338" y="1123950"/>
            <a:ext cx="6819900" cy="24415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</a:fld>
            <a:endParaRPr lang="zh-CN" altLang="en-US"/>
          </a:p>
        </p:txBody>
      </p:sp>
      <p:sp>
        <p:nvSpPr>
          <p:cNvPr id="34" name="文本框 33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  <a:endParaRPr lang="zh-CN" altLang="en-US" sz="1600" spc="300" dirty="0">
              <a:solidFill>
                <a:schemeClr val="accent1">
                  <a:alpha val="25000"/>
                </a:schemeClr>
              </a:solidFill>
              <a:latin typeface="管峻楷书简体" panose="02010600010101010101" pitchFamily="2" charset="-122"/>
              <a:ea typeface="管峻楷书简体" panose="02010600010101010101" pitchFamily="2" charset="-122"/>
            </a:endParaRPr>
          </a:p>
        </p:txBody>
      </p:sp>
      <p:sp>
        <p:nvSpPr>
          <p:cNvPr id="85" name="矩形: 圆角 84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6" name="组合 85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7" name="椭圆 86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8" name="组合 87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9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4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5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7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8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29" name="文本占位符 65"/>
          <p:cNvSpPr>
            <a:spLocks noGrp="1"/>
          </p:cNvSpPr>
          <p:nvPr>
            <p:ph type="body" idx="15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4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5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7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3"/>
          </p:nvPr>
        </p:nvSpPr>
        <p:spPr>
          <a:xfrm>
            <a:off x="661988" y="1139750"/>
            <a:ext cx="3517900" cy="2725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9"/>
          <p:cNvSpPr>
            <a:spLocks noGrp="1"/>
          </p:cNvSpPr>
          <p:nvPr>
            <p:ph type="pic" sz="quarter" idx="14"/>
          </p:nvPr>
        </p:nvSpPr>
        <p:spPr>
          <a:xfrm>
            <a:off x="4330561" y="1139750"/>
            <a:ext cx="3517900" cy="2725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9"/>
          <p:cNvSpPr>
            <a:spLocks noGrp="1"/>
          </p:cNvSpPr>
          <p:nvPr>
            <p:ph type="pic" sz="quarter" idx="15"/>
          </p:nvPr>
        </p:nvSpPr>
        <p:spPr>
          <a:xfrm>
            <a:off x="7999134" y="1139750"/>
            <a:ext cx="3517900" cy="2725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8" name="文本框 27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  <a:endParaRPr lang="zh-CN" altLang="en-US" sz="1600" spc="300" dirty="0">
              <a:solidFill>
                <a:schemeClr val="accent1">
                  <a:alpha val="25000"/>
                </a:schemeClr>
              </a:solidFill>
              <a:latin typeface="管峻楷书简体" panose="02010600010101010101" pitchFamily="2" charset="-122"/>
              <a:ea typeface="管峻楷书简体" panose="02010600010101010101" pitchFamily="2" charset="-122"/>
            </a:endParaRPr>
          </a:p>
        </p:txBody>
      </p:sp>
      <p:sp>
        <p:nvSpPr>
          <p:cNvPr id="120" name="矩形: 圆角 119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1" name="组合 120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122" name="椭圆 121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3" name="组合 122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124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5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7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8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9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0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1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2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3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4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6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7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8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9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0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1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2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3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4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5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6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7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8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9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0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1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2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3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4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5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6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7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8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9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0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1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2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3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64" name="文本占位符 65"/>
          <p:cNvSpPr>
            <a:spLocks noGrp="1"/>
          </p:cNvSpPr>
          <p:nvPr>
            <p:ph type="body" idx="16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0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660400" y="1130300"/>
            <a:ext cx="5367020" cy="24358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660400" y="3734122"/>
            <a:ext cx="5367020" cy="23999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6151880" y="1130300"/>
            <a:ext cx="5367020" cy="24358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6151880" y="3734122"/>
            <a:ext cx="5367020" cy="23999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952392" y="1412875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14"/>
          <p:cNvSpPr>
            <a:spLocks noGrp="1"/>
          </p:cNvSpPr>
          <p:nvPr>
            <p:ph type="pic" sz="quarter" idx="14"/>
          </p:nvPr>
        </p:nvSpPr>
        <p:spPr>
          <a:xfrm>
            <a:off x="6422971" y="1412875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图片占位符 14"/>
          <p:cNvSpPr>
            <a:spLocks noGrp="1"/>
          </p:cNvSpPr>
          <p:nvPr>
            <p:ph type="pic" sz="quarter" idx="15"/>
          </p:nvPr>
        </p:nvSpPr>
        <p:spPr>
          <a:xfrm>
            <a:off x="6422971" y="4000607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14"/>
          <p:cNvSpPr>
            <a:spLocks noGrp="1"/>
          </p:cNvSpPr>
          <p:nvPr>
            <p:ph type="pic" sz="quarter" idx="16"/>
          </p:nvPr>
        </p:nvSpPr>
        <p:spPr>
          <a:xfrm>
            <a:off x="952392" y="4000607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4" name="文本框 33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  <a:endParaRPr lang="zh-CN" altLang="en-US" sz="1600" spc="300" dirty="0">
              <a:solidFill>
                <a:schemeClr val="accent1">
                  <a:alpha val="25000"/>
                </a:schemeClr>
              </a:solidFill>
              <a:latin typeface="管峻楷书简体" panose="02010600010101010101" pitchFamily="2" charset="-122"/>
              <a:ea typeface="管峻楷书简体" panose="02010600010101010101" pitchFamily="2" charset="-122"/>
            </a:endParaRPr>
          </a:p>
        </p:txBody>
      </p:sp>
      <p:sp>
        <p:nvSpPr>
          <p:cNvPr id="81" name="矩形: 圆角 80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2" name="组合 81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3" name="椭圆 82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4" name="组合 83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5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4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25" name="文本占位符 65"/>
          <p:cNvSpPr>
            <a:spLocks noGrp="1"/>
          </p:cNvSpPr>
          <p:nvPr>
            <p:ph type="body" idx="17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399002" y="1086761"/>
            <a:ext cx="4957524" cy="4606485"/>
            <a:chOff x="703035" y="1086761"/>
            <a:chExt cx="4957524" cy="4606485"/>
          </a:xfrm>
        </p:grpSpPr>
        <p:sp>
          <p:nvSpPr>
            <p:cNvPr id="7" name="任意多边形: 形状 6"/>
            <p:cNvSpPr/>
            <p:nvPr/>
          </p:nvSpPr>
          <p:spPr>
            <a:xfrm rot="10015880">
              <a:off x="3385211" y="1086761"/>
              <a:ext cx="2275348" cy="4564647"/>
            </a:xfrm>
            <a:custGeom>
              <a:avLst/>
              <a:gdLst>
                <a:gd name="connsiteX0" fmla="*/ 2209501 w 2209501"/>
                <a:gd name="connsiteY0" fmla="*/ 0 h 4432548"/>
                <a:gd name="connsiteX1" fmla="*/ 2209501 w 2209501"/>
                <a:gd name="connsiteY1" fmla="*/ 4432548 h 4432548"/>
                <a:gd name="connsiteX2" fmla="*/ 1989997 w 2209501"/>
                <a:gd name="connsiteY2" fmla="*/ 4421464 h 4432548"/>
                <a:gd name="connsiteX3" fmla="*/ 0 w 2209501"/>
                <a:gd name="connsiteY3" fmla="*/ 2216274 h 4432548"/>
                <a:gd name="connsiteX4" fmla="*/ 1989997 w 2209501"/>
                <a:gd name="connsiteY4" fmla="*/ 11085 h 4432548"/>
                <a:gd name="connsiteX0-1" fmla="*/ 2209501 w 2211099"/>
                <a:gd name="connsiteY0-2" fmla="*/ 0 h 4432548"/>
                <a:gd name="connsiteX1-3" fmla="*/ 2211099 w 2211099"/>
                <a:gd name="connsiteY1-4" fmla="*/ 2248887 h 4432548"/>
                <a:gd name="connsiteX2-5" fmla="*/ 2209501 w 2211099"/>
                <a:gd name="connsiteY2-6" fmla="*/ 4432548 h 4432548"/>
                <a:gd name="connsiteX3-7" fmla="*/ 1989997 w 2211099"/>
                <a:gd name="connsiteY3-8" fmla="*/ 4421464 h 4432548"/>
                <a:gd name="connsiteX4-9" fmla="*/ 0 w 2211099"/>
                <a:gd name="connsiteY4-10" fmla="*/ 2216274 h 4432548"/>
                <a:gd name="connsiteX5" fmla="*/ 1989997 w 2211099"/>
                <a:gd name="connsiteY5" fmla="*/ 11085 h 4432548"/>
                <a:gd name="connsiteX6" fmla="*/ 2209501 w 2211099"/>
                <a:gd name="connsiteY6" fmla="*/ 0 h 4432548"/>
                <a:gd name="connsiteX0-11" fmla="*/ 2211099 w 2302539"/>
                <a:gd name="connsiteY0-12" fmla="*/ 2248887 h 4432548"/>
                <a:gd name="connsiteX1-13" fmla="*/ 2209501 w 2302539"/>
                <a:gd name="connsiteY1-14" fmla="*/ 4432548 h 4432548"/>
                <a:gd name="connsiteX2-15" fmla="*/ 1989997 w 2302539"/>
                <a:gd name="connsiteY2-16" fmla="*/ 4421464 h 4432548"/>
                <a:gd name="connsiteX3-17" fmla="*/ 0 w 2302539"/>
                <a:gd name="connsiteY3-18" fmla="*/ 2216274 h 4432548"/>
                <a:gd name="connsiteX4-19" fmla="*/ 1989997 w 2302539"/>
                <a:gd name="connsiteY4-20" fmla="*/ 11085 h 4432548"/>
                <a:gd name="connsiteX5-21" fmla="*/ 2209501 w 2302539"/>
                <a:gd name="connsiteY5-22" fmla="*/ 0 h 4432548"/>
                <a:gd name="connsiteX6-23" fmla="*/ 2302539 w 2302539"/>
                <a:gd name="connsiteY6-24" fmla="*/ 2340327 h 4432548"/>
                <a:gd name="connsiteX0-25" fmla="*/ 2211099 w 2211099"/>
                <a:gd name="connsiteY0-26" fmla="*/ 2248887 h 4432548"/>
                <a:gd name="connsiteX1-27" fmla="*/ 2209501 w 2211099"/>
                <a:gd name="connsiteY1-28" fmla="*/ 4432548 h 4432548"/>
                <a:gd name="connsiteX2-29" fmla="*/ 1989997 w 2211099"/>
                <a:gd name="connsiteY2-30" fmla="*/ 4421464 h 4432548"/>
                <a:gd name="connsiteX3-31" fmla="*/ 0 w 2211099"/>
                <a:gd name="connsiteY3-32" fmla="*/ 2216274 h 4432548"/>
                <a:gd name="connsiteX4-33" fmla="*/ 1989997 w 2211099"/>
                <a:gd name="connsiteY4-34" fmla="*/ 11085 h 4432548"/>
                <a:gd name="connsiteX5-35" fmla="*/ 2209501 w 2211099"/>
                <a:gd name="connsiteY5-36" fmla="*/ 0 h 4432548"/>
                <a:gd name="connsiteX0-37" fmla="*/ 2209501 w 2209501"/>
                <a:gd name="connsiteY0-38" fmla="*/ 4432548 h 4432548"/>
                <a:gd name="connsiteX1-39" fmla="*/ 1989997 w 2209501"/>
                <a:gd name="connsiteY1-40" fmla="*/ 4421464 h 4432548"/>
                <a:gd name="connsiteX2-41" fmla="*/ 0 w 2209501"/>
                <a:gd name="connsiteY2-42" fmla="*/ 2216274 h 4432548"/>
                <a:gd name="connsiteX3-43" fmla="*/ 1989997 w 2209501"/>
                <a:gd name="connsiteY3-44" fmla="*/ 11085 h 4432548"/>
                <a:gd name="connsiteX4-45" fmla="*/ 2209501 w 2209501"/>
                <a:gd name="connsiteY4-46" fmla="*/ 0 h 443254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2209501" h="4432548">
                  <a:moveTo>
                    <a:pt x="2209501" y="4432548"/>
                  </a:moveTo>
                  <a:lnTo>
                    <a:pt x="1989997" y="4421464"/>
                  </a:lnTo>
                  <a:cubicBezTo>
                    <a:pt x="872246" y="4307950"/>
                    <a:pt x="0" y="3363974"/>
                    <a:pt x="0" y="2216274"/>
                  </a:cubicBezTo>
                  <a:cubicBezTo>
                    <a:pt x="0" y="1068575"/>
                    <a:pt x="872246" y="124599"/>
                    <a:pt x="1989997" y="11085"/>
                  </a:cubicBezTo>
                  <a:lnTo>
                    <a:pt x="2209501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703035" y="1374365"/>
              <a:ext cx="4837299" cy="4318881"/>
              <a:chOff x="703035" y="1374365"/>
              <a:chExt cx="4837299" cy="4318881"/>
            </a:xfrm>
          </p:grpSpPr>
          <p:sp>
            <p:nvSpPr>
              <p:cNvPr id="10" name="任意多边形: 形状 9"/>
              <p:cNvSpPr/>
              <p:nvPr/>
            </p:nvSpPr>
            <p:spPr>
              <a:xfrm>
                <a:off x="1336624" y="1528777"/>
                <a:ext cx="4164314" cy="4164469"/>
              </a:xfrm>
              <a:custGeom>
                <a:avLst/>
                <a:gdLst>
                  <a:gd name="connsiteX0" fmla="*/ 1310015 w 2619936"/>
                  <a:gd name="connsiteY0" fmla="*/ 0 h 2620034"/>
                  <a:gd name="connsiteX1" fmla="*/ 1310015 w 2619936"/>
                  <a:gd name="connsiteY1" fmla="*/ 1311964 h 2620034"/>
                  <a:gd name="connsiteX2" fmla="*/ 2619936 w 2619936"/>
                  <a:gd name="connsiteY2" fmla="*/ 1311964 h 2620034"/>
                  <a:gd name="connsiteX3" fmla="*/ 2613271 w 2619936"/>
                  <a:gd name="connsiteY3" fmla="*/ 1443959 h 2620034"/>
                  <a:gd name="connsiteX4" fmla="*/ 1310017 w 2619936"/>
                  <a:gd name="connsiteY4" fmla="*/ 2620034 h 2620034"/>
                  <a:gd name="connsiteX5" fmla="*/ 0 w 2619936"/>
                  <a:gd name="connsiteY5" fmla="*/ 1310017 h 2620034"/>
                  <a:gd name="connsiteX6" fmla="*/ 1176076 w 2619936"/>
                  <a:gd name="connsiteY6" fmla="*/ 6764 h 2620034"/>
                  <a:gd name="connsiteX0-1" fmla="*/ 1310015 w 2619936"/>
                  <a:gd name="connsiteY0-2" fmla="*/ 1311964 h 2620034"/>
                  <a:gd name="connsiteX1-3" fmla="*/ 2619936 w 2619936"/>
                  <a:gd name="connsiteY1-4" fmla="*/ 1311964 h 2620034"/>
                  <a:gd name="connsiteX2-5" fmla="*/ 2613271 w 2619936"/>
                  <a:gd name="connsiteY2-6" fmla="*/ 1443959 h 2620034"/>
                  <a:gd name="connsiteX3-7" fmla="*/ 1310017 w 2619936"/>
                  <a:gd name="connsiteY3-8" fmla="*/ 2620034 h 2620034"/>
                  <a:gd name="connsiteX4-9" fmla="*/ 0 w 2619936"/>
                  <a:gd name="connsiteY4-10" fmla="*/ 1310017 h 2620034"/>
                  <a:gd name="connsiteX5-11" fmla="*/ 1176076 w 2619936"/>
                  <a:gd name="connsiteY5-12" fmla="*/ 6764 h 2620034"/>
                  <a:gd name="connsiteX6-13" fmla="*/ 1310015 w 2619936"/>
                  <a:gd name="connsiteY6-14" fmla="*/ 0 h 2620034"/>
                  <a:gd name="connsiteX7" fmla="*/ 1401455 w 2619936"/>
                  <a:gd name="connsiteY7" fmla="*/ 1403404 h 2620034"/>
                  <a:gd name="connsiteX0-15" fmla="*/ 1310015 w 2619936"/>
                  <a:gd name="connsiteY0-16" fmla="*/ 1311964 h 2620034"/>
                  <a:gd name="connsiteX1-17" fmla="*/ 2619936 w 2619936"/>
                  <a:gd name="connsiteY1-18" fmla="*/ 1311964 h 2620034"/>
                  <a:gd name="connsiteX2-19" fmla="*/ 2613271 w 2619936"/>
                  <a:gd name="connsiteY2-20" fmla="*/ 1443959 h 2620034"/>
                  <a:gd name="connsiteX3-21" fmla="*/ 1310017 w 2619936"/>
                  <a:gd name="connsiteY3-22" fmla="*/ 2620034 h 2620034"/>
                  <a:gd name="connsiteX4-23" fmla="*/ 0 w 2619936"/>
                  <a:gd name="connsiteY4-24" fmla="*/ 1310017 h 2620034"/>
                  <a:gd name="connsiteX5-25" fmla="*/ 1176076 w 2619936"/>
                  <a:gd name="connsiteY5-26" fmla="*/ 6764 h 2620034"/>
                  <a:gd name="connsiteX6-27" fmla="*/ 1310015 w 2619936"/>
                  <a:gd name="connsiteY6-28" fmla="*/ 0 h 2620034"/>
                  <a:gd name="connsiteX0-29" fmla="*/ 2619936 w 2619936"/>
                  <a:gd name="connsiteY0-30" fmla="*/ 1311964 h 2620034"/>
                  <a:gd name="connsiteX1-31" fmla="*/ 2613271 w 2619936"/>
                  <a:gd name="connsiteY1-32" fmla="*/ 1443959 h 2620034"/>
                  <a:gd name="connsiteX2-33" fmla="*/ 1310017 w 2619936"/>
                  <a:gd name="connsiteY2-34" fmla="*/ 2620034 h 2620034"/>
                  <a:gd name="connsiteX3-35" fmla="*/ 0 w 2619936"/>
                  <a:gd name="connsiteY3-36" fmla="*/ 1310017 h 2620034"/>
                  <a:gd name="connsiteX4-37" fmla="*/ 1176076 w 2619936"/>
                  <a:gd name="connsiteY4-38" fmla="*/ 6764 h 2620034"/>
                  <a:gd name="connsiteX5-39" fmla="*/ 1310015 w 2619936"/>
                  <a:gd name="connsiteY5-40" fmla="*/ 0 h 262003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</a:cxnLst>
                <a:rect l="l" t="t" r="r" b="b"/>
                <a:pathLst>
                  <a:path w="2619936" h="2620034">
                    <a:moveTo>
                      <a:pt x="2619936" y="1311964"/>
                    </a:moveTo>
                    <a:lnTo>
                      <a:pt x="2613271" y="1443959"/>
                    </a:lnTo>
                    <a:cubicBezTo>
                      <a:pt x="2546185" y="2104542"/>
                      <a:pt x="1988300" y="2620034"/>
                      <a:pt x="1310017" y="2620034"/>
                    </a:cubicBezTo>
                    <a:cubicBezTo>
                      <a:pt x="586515" y="2620034"/>
                      <a:pt x="0" y="2033519"/>
                      <a:pt x="0" y="1310017"/>
                    </a:cubicBezTo>
                    <a:cubicBezTo>
                      <a:pt x="0" y="631734"/>
                      <a:pt x="515492" y="73850"/>
                      <a:pt x="1176076" y="6764"/>
                    </a:cubicBezTo>
                    <a:lnTo>
                      <a:pt x="1310015" y="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801074" y="1374365"/>
                <a:ext cx="97528" cy="9752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2" name="组合 11"/>
              <p:cNvGrpSpPr/>
              <p:nvPr/>
            </p:nvGrpSpPr>
            <p:grpSpPr>
              <a:xfrm>
                <a:off x="703035" y="2791613"/>
                <a:ext cx="2303860" cy="2763395"/>
                <a:chOff x="667909" y="2831346"/>
                <a:chExt cx="2303860" cy="2763395"/>
              </a:xfrm>
            </p:grpSpPr>
            <p:sp>
              <p:nvSpPr>
                <p:cNvPr id="14" name="任意多边形: 形状 13"/>
                <p:cNvSpPr/>
                <p:nvPr/>
              </p:nvSpPr>
              <p:spPr>
                <a:xfrm rot="18225743">
                  <a:off x="682165" y="2817090"/>
                  <a:ext cx="2275348" cy="2303860"/>
                </a:xfrm>
                <a:custGeom>
                  <a:avLst/>
                  <a:gdLst>
                    <a:gd name="connsiteX0" fmla="*/ 2422212 w 2422212"/>
                    <a:gd name="connsiteY0" fmla="*/ 2452564 h 2452564"/>
                    <a:gd name="connsiteX1" fmla="*/ 1086 w 2422212"/>
                    <a:gd name="connsiteY1" fmla="*/ 2452564 h 2452564"/>
                    <a:gd name="connsiteX2" fmla="*/ 0 w 2422212"/>
                    <a:gd name="connsiteY2" fmla="*/ 2429638 h 2452564"/>
                    <a:gd name="connsiteX3" fmla="*/ 2181576 w 2422212"/>
                    <a:gd name="connsiteY3" fmla="*/ 12152 h 2452564"/>
                    <a:gd name="connsiteX4" fmla="*/ 2422212 w 2422212"/>
                    <a:gd name="connsiteY4" fmla="*/ 0 h 2452564"/>
                    <a:gd name="connsiteX0-1" fmla="*/ 2422212 w 2513652"/>
                    <a:gd name="connsiteY0-2" fmla="*/ 2452564 h 2544004"/>
                    <a:gd name="connsiteX1-3" fmla="*/ 1086 w 2513652"/>
                    <a:gd name="connsiteY1-4" fmla="*/ 2452564 h 2544004"/>
                    <a:gd name="connsiteX2-5" fmla="*/ 0 w 2513652"/>
                    <a:gd name="connsiteY2-6" fmla="*/ 2429638 h 2544004"/>
                    <a:gd name="connsiteX3-7" fmla="*/ 2181576 w 2513652"/>
                    <a:gd name="connsiteY3-8" fmla="*/ 12152 h 2544004"/>
                    <a:gd name="connsiteX4-9" fmla="*/ 2422212 w 2513652"/>
                    <a:gd name="connsiteY4-10" fmla="*/ 0 h 2544004"/>
                    <a:gd name="connsiteX5" fmla="*/ 2513652 w 2513652"/>
                    <a:gd name="connsiteY5" fmla="*/ 2544004 h 2544004"/>
                    <a:gd name="connsiteX0-11" fmla="*/ 1086 w 2513652"/>
                    <a:gd name="connsiteY0-12" fmla="*/ 2452564 h 2544004"/>
                    <a:gd name="connsiteX1-13" fmla="*/ 0 w 2513652"/>
                    <a:gd name="connsiteY1-14" fmla="*/ 2429638 h 2544004"/>
                    <a:gd name="connsiteX2-15" fmla="*/ 2181576 w 2513652"/>
                    <a:gd name="connsiteY2-16" fmla="*/ 12152 h 2544004"/>
                    <a:gd name="connsiteX3-17" fmla="*/ 2422212 w 2513652"/>
                    <a:gd name="connsiteY3-18" fmla="*/ 0 h 2544004"/>
                    <a:gd name="connsiteX4-19" fmla="*/ 2513652 w 2513652"/>
                    <a:gd name="connsiteY4-20" fmla="*/ 2544004 h 2544004"/>
                    <a:gd name="connsiteX0-21" fmla="*/ 1086 w 2422212"/>
                    <a:gd name="connsiteY0-22" fmla="*/ 2452564 h 2452564"/>
                    <a:gd name="connsiteX1-23" fmla="*/ 0 w 2422212"/>
                    <a:gd name="connsiteY1-24" fmla="*/ 2429638 h 2452564"/>
                    <a:gd name="connsiteX2-25" fmla="*/ 2181576 w 2422212"/>
                    <a:gd name="connsiteY2-26" fmla="*/ 12152 h 2452564"/>
                    <a:gd name="connsiteX3-27" fmla="*/ 2422212 w 2422212"/>
                    <a:gd name="connsiteY3-28" fmla="*/ 0 h 245256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2422212" h="2452564">
                      <a:moveTo>
                        <a:pt x="1086" y="2452564"/>
                      </a:moveTo>
                      <a:lnTo>
                        <a:pt x="0" y="2429638"/>
                      </a:lnTo>
                      <a:cubicBezTo>
                        <a:pt x="0" y="1171448"/>
                        <a:pt x="956218" y="136595"/>
                        <a:pt x="2181576" y="12152"/>
                      </a:cubicBezTo>
                      <a:lnTo>
                        <a:pt x="2422212" y="0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椭圆 14"/>
                <p:cNvSpPr/>
                <p:nvPr/>
              </p:nvSpPr>
              <p:spPr>
                <a:xfrm>
                  <a:off x="2079475" y="5497213"/>
                  <a:ext cx="97528" cy="9752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3" name="椭圆 12"/>
              <p:cNvSpPr/>
              <p:nvPr/>
            </p:nvSpPr>
            <p:spPr>
              <a:xfrm>
                <a:off x="5442806" y="3611011"/>
                <a:ext cx="97528" cy="9752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17" name="图片占位符 16"/>
          <p:cNvSpPr>
            <a:spLocks noGrp="1"/>
          </p:cNvSpPr>
          <p:nvPr>
            <p:ph type="pic" sz="quarter" idx="13"/>
          </p:nvPr>
        </p:nvSpPr>
        <p:spPr>
          <a:xfrm>
            <a:off x="1239984" y="1740365"/>
            <a:ext cx="3731695" cy="373169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grpSp>
        <p:nvGrpSpPr>
          <p:cNvPr id="16" name="组合 15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8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2" name="文本框 31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  <a:endParaRPr lang="zh-CN" altLang="en-US" sz="1600" spc="300" dirty="0">
              <a:solidFill>
                <a:schemeClr val="accent1">
                  <a:alpha val="25000"/>
                </a:schemeClr>
              </a:solidFill>
              <a:latin typeface="管峻楷书简体" panose="02010600010101010101" pitchFamily="2" charset="-122"/>
              <a:ea typeface="管峻楷书简体" panose="02010600010101010101" pitchFamily="2" charset="-122"/>
            </a:endParaRPr>
          </a:p>
        </p:txBody>
      </p:sp>
      <p:sp>
        <p:nvSpPr>
          <p:cNvPr id="79" name="矩形: 圆角 78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0" name="组合 79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1" name="椭圆 80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2" name="组合 81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3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4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5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23" name="文本占位符 65"/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双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0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: 圆角 5"/>
          <p:cNvSpPr/>
          <p:nvPr userDrawn="1"/>
        </p:nvSpPr>
        <p:spPr>
          <a:xfrm>
            <a:off x="689270" y="1262131"/>
            <a:ext cx="10842684" cy="2286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 userDrawn="1"/>
        </p:nvSpPr>
        <p:spPr>
          <a:xfrm>
            <a:off x="689270" y="3726269"/>
            <a:ext cx="10842684" cy="2286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3"/>
          </p:nvPr>
        </p:nvSpPr>
        <p:spPr>
          <a:xfrm>
            <a:off x="819151" y="1376166"/>
            <a:ext cx="2052066" cy="2052834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16"/>
          <p:cNvSpPr>
            <a:spLocks noGrp="1"/>
          </p:cNvSpPr>
          <p:nvPr>
            <p:ph type="pic" sz="quarter" idx="14"/>
          </p:nvPr>
        </p:nvSpPr>
        <p:spPr>
          <a:xfrm flipH="1">
            <a:off x="9344050" y="3851644"/>
            <a:ext cx="2052066" cy="2052834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4" name="文本框 33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  <a:endParaRPr lang="zh-CN" altLang="en-US" sz="1600" spc="300" dirty="0">
              <a:solidFill>
                <a:schemeClr val="accent1">
                  <a:alpha val="25000"/>
                </a:schemeClr>
              </a:solidFill>
              <a:latin typeface="管峻楷书简体" panose="02010600010101010101" pitchFamily="2" charset="-122"/>
              <a:ea typeface="管峻楷书简体" panose="02010600010101010101" pitchFamily="2" charset="-122"/>
            </a:endParaRPr>
          </a:p>
        </p:txBody>
      </p:sp>
      <p:sp>
        <p:nvSpPr>
          <p:cNvPr id="81" name="矩形: 圆角 80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2" name="组合 81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3" name="椭圆 82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4" name="组合 83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5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4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25" name="文本占位符 65"/>
          <p:cNvSpPr>
            <a:spLocks noGrp="1"/>
          </p:cNvSpPr>
          <p:nvPr>
            <p:ph type="body" idx="15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9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</a:fld>
            <a:endParaRPr lang="zh-CN" altLang="en-US"/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1175646" y="1134201"/>
            <a:ext cx="2619936" cy="2620034"/>
          </a:xfrm>
          <a:custGeom>
            <a:avLst/>
            <a:gdLst>
              <a:gd name="connsiteX0" fmla="*/ 1310015 w 2619936"/>
              <a:gd name="connsiteY0" fmla="*/ 0 h 2620034"/>
              <a:gd name="connsiteX1" fmla="*/ 1310015 w 2619936"/>
              <a:gd name="connsiteY1" fmla="*/ 1311964 h 2620034"/>
              <a:gd name="connsiteX2" fmla="*/ 2619936 w 2619936"/>
              <a:gd name="connsiteY2" fmla="*/ 1311964 h 2620034"/>
              <a:gd name="connsiteX3" fmla="*/ 2613271 w 2619936"/>
              <a:gd name="connsiteY3" fmla="*/ 1443959 h 2620034"/>
              <a:gd name="connsiteX4" fmla="*/ 1310017 w 2619936"/>
              <a:gd name="connsiteY4" fmla="*/ 2620034 h 2620034"/>
              <a:gd name="connsiteX5" fmla="*/ 0 w 2619936"/>
              <a:gd name="connsiteY5" fmla="*/ 1310017 h 2620034"/>
              <a:gd name="connsiteX6" fmla="*/ 1176076 w 2619936"/>
              <a:gd name="connsiteY6" fmla="*/ 6764 h 2620034"/>
              <a:gd name="connsiteX0-1" fmla="*/ 1310015 w 2619936"/>
              <a:gd name="connsiteY0-2" fmla="*/ 1311964 h 2620034"/>
              <a:gd name="connsiteX1-3" fmla="*/ 2619936 w 2619936"/>
              <a:gd name="connsiteY1-4" fmla="*/ 1311964 h 2620034"/>
              <a:gd name="connsiteX2-5" fmla="*/ 2613271 w 2619936"/>
              <a:gd name="connsiteY2-6" fmla="*/ 1443959 h 2620034"/>
              <a:gd name="connsiteX3-7" fmla="*/ 1310017 w 2619936"/>
              <a:gd name="connsiteY3-8" fmla="*/ 2620034 h 2620034"/>
              <a:gd name="connsiteX4-9" fmla="*/ 0 w 2619936"/>
              <a:gd name="connsiteY4-10" fmla="*/ 1310017 h 2620034"/>
              <a:gd name="connsiteX5-11" fmla="*/ 1176076 w 2619936"/>
              <a:gd name="connsiteY5-12" fmla="*/ 6764 h 2620034"/>
              <a:gd name="connsiteX6-13" fmla="*/ 1310015 w 2619936"/>
              <a:gd name="connsiteY6-14" fmla="*/ 0 h 2620034"/>
              <a:gd name="connsiteX7" fmla="*/ 1401455 w 2619936"/>
              <a:gd name="connsiteY7" fmla="*/ 1403404 h 2620034"/>
              <a:gd name="connsiteX0-15" fmla="*/ 1310015 w 2619936"/>
              <a:gd name="connsiteY0-16" fmla="*/ 1311964 h 2620034"/>
              <a:gd name="connsiteX1-17" fmla="*/ 2619936 w 2619936"/>
              <a:gd name="connsiteY1-18" fmla="*/ 1311964 h 2620034"/>
              <a:gd name="connsiteX2-19" fmla="*/ 2613271 w 2619936"/>
              <a:gd name="connsiteY2-20" fmla="*/ 1443959 h 2620034"/>
              <a:gd name="connsiteX3-21" fmla="*/ 1310017 w 2619936"/>
              <a:gd name="connsiteY3-22" fmla="*/ 2620034 h 2620034"/>
              <a:gd name="connsiteX4-23" fmla="*/ 0 w 2619936"/>
              <a:gd name="connsiteY4-24" fmla="*/ 1310017 h 2620034"/>
              <a:gd name="connsiteX5-25" fmla="*/ 1176076 w 2619936"/>
              <a:gd name="connsiteY5-26" fmla="*/ 6764 h 2620034"/>
              <a:gd name="connsiteX6-27" fmla="*/ 1310015 w 2619936"/>
              <a:gd name="connsiteY6-28" fmla="*/ 0 h 2620034"/>
              <a:gd name="connsiteX0-29" fmla="*/ 2619936 w 2619936"/>
              <a:gd name="connsiteY0-30" fmla="*/ 1311964 h 2620034"/>
              <a:gd name="connsiteX1-31" fmla="*/ 2613271 w 2619936"/>
              <a:gd name="connsiteY1-32" fmla="*/ 1443959 h 2620034"/>
              <a:gd name="connsiteX2-33" fmla="*/ 1310017 w 2619936"/>
              <a:gd name="connsiteY2-34" fmla="*/ 2620034 h 2620034"/>
              <a:gd name="connsiteX3-35" fmla="*/ 0 w 2619936"/>
              <a:gd name="connsiteY3-36" fmla="*/ 1310017 h 2620034"/>
              <a:gd name="connsiteX4-37" fmla="*/ 1176076 w 2619936"/>
              <a:gd name="connsiteY4-38" fmla="*/ 6764 h 2620034"/>
              <a:gd name="connsiteX5-39" fmla="*/ 1310015 w 2619936"/>
              <a:gd name="connsiteY5-40" fmla="*/ 0 h 262003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619936" h="2620034">
                <a:moveTo>
                  <a:pt x="2619936" y="1311964"/>
                </a:moveTo>
                <a:lnTo>
                  <a:pt x="2613271" y="1443959"/>
                </a:lnTo>
                <a:cubicBezTo>
                  <a:pt x="2546185" y="2104542"/>
                  <a:pt x="1988300" y="2620034"/>
                  <a:pt x="1310017" y="2620034"/>
                </a:cubicBezTo>
                <a:cubicBezTo>
                  <a:pt x="586515" y="2620034"/>
                  <a:pt x="0" y="2033519"/>
                  <a:pt x="0" y="1310017"/>
                </a:cubicBezTo>
                <a:cubicBezTo>
                  <a:pt x="0" y="631734"/>
                  <a:pt x="515492" y="73850"/>
                  <a:pt x="1176076" y="6764"/>
                </a:cubicBezTo>
                <a:lnTo>
                  <a:pt x="1310015" y="0"/>
                </a:lnTo>
              </a:path>
            </a:pathLst>
          </a:cu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/>
        </p:nvSpPr>
        <p:spPr>
          <a:xfrm>
            <a:off x="4601109" y="1129189"/>
            <a:ext cx="2619936" cy="2620034"/>
          </a:xfrm>
          <a:custGeom>
            <a:avLst/>
            <a:gdLst>
              <a:gd name="connsiteX0" fmla="*/ 1310015 w 2619936"/>
              <a:gd name="connsiteY0" fmla="*/ 0 h 2620034"/>
              <a:gd name="connsiteX1" fmla="*/ 1310015 w 2619936"/>
              <a:gd name="connsiteY1" fmla="*/ 1311964 h 2620034"/>
              <a:gd name="connsiteX2" fmla="*/ 2619936 w 2619936"/>
              <a:gd name="connsiteY2" fmla="*/ 1311964 h 2620034"/>
              <a:gd name="connsiteX3" fmla="*/ 2613271 w 2619936"/>
              <a:gd name="connsiteY3" fmla="*/ 1443959 h 2620034"/>
              <a:gd name="connsiteX4" fmla="*/ 1310017 w 2619936"/>
              <a:gd name="connsiteY4" fmla="*/ 2620034 h 2620034"/>
              <a:gd name="connsiteX5" fmla="*/ 0 w 2619936"/>
              <a:gd name="connsiteY5" fmla="*/ 1310017 h 2620034"/>
              <a:gd name="connsiteX6" fmla="*/ 1176076 w 2619936"/>
              <a:gd name="connsiteY6" fmla="*/ 6764 h 2620034"/>
              <a:gd name="connsiteX0-1" fmla="*/ 1310015 w 2619936"/>
              <a:gd name="connsiteY0-2" fmla="*/ 1311964 h 2620034"/>
              <a:gd name="connsiteX1-3" fmla="*/ 2619936 w 2619936"/>
              <a:gd name="connsiteY1-4" fmla="*/ 1311964 h 2620034"/>
              <a:gd name="connsiteX2-5" fmla="*/ 2613271 w 2619936"/>
              <a:gd name="connsiteY2-6" fmla="*/ 1443959 h 2620034"/>
              <a:gd name="connsiteX3-7" fmla="*/ 1310017 w 2619936"/>
              <a:gd name="connsiteY3-8" fmla="*/ 2620034 h 2620034"/>
              <a:gd name="connsiteX4-9" fmla="*/ 0 w 2619936"/>
              <a:gd name="connsiteY4-10" fmla="*/ 1310017 h 2620034"/>
              <a:gd name="connsiteX5-11" fmla="*/ 1176076 w 2619936"/>
              <a:gd name="connsiteY5-12" fmla="*/ 6764 h 2620034"/>
              <a:gd name="connsiteX6-13" fmla="*/ 1310015 w 2619936"/>
              <a:gd name="connsiteY6-14" fmla="*/ 0 h 2620034"/>
              <a:gd name="connsiteX7" fmla="*/ 1401455 w 2619936"/>
              <a:gd name="connsiteY7" fmla="*/ 1403404 h 2620034"/>
              <a:gd name="connsiteX0-15" fmla="*/ 1310015 w 2619936"/>
              <a:gd name="connsiteY0-16" fmla="*/ 1311964 h 2620034"/>
              <a:gd name="connsiteX1-17" fmla="*/ 2619936 w 2619936"/>
              <a:gd name="connsiteY1-18" fmla="*/ 1311964 h 2620034"/>
              <a:gd name="connsiteX2-19" fmla="*/ 2613271 w 2619936"/>
              <a:gd name="connsiteY2-20" fmla="*/ 1443959 h 2620034"/>
              <a:gd name="connsiteX3-21" fmla="*/ 1310017 w 2619936"/>
              <a:gd name="connsiteY3-22" fmla="*/ 2620034 h 2620034"/>
              <a:gd name="connsiteX4-23" fmla="*/ 0 w 2619936"/>
              <a:gd name="connsiteY4-24" fmla="*/ 1310017 h 2620034"/>
              <a:gd name="connsiteX5-25" fmla="*/ 1176076 w 2619936"/>
              <a:gd name="connsiteY5-26" fmla="*/ 6764 h 2620034"/>
              <a:gd name="connsiteX6-27" fmla="*/ 1310015 w 2619936"/>
              <a:gd name="connsiteY6-28" fmla="*/ 0 h 2620034"/>
              <a:gd name="connsiteX0-29" fmla="*/ 2619936 w 2619936"/>
              <a:gd name="connsiteY0-30" fmla="*/ 1311964 h 2620034"/>
              <a:gd name="connsiteX1-31" fmla="*/ 2613271 w 2619936"/>
              <a:gd name="connsiteY1-32" fmla="*/ 1443959 h 2620034"/>
              <a:gd name="connsiteX2-33" fmla="*/ 1310017 w 2619936"/>
              <a:gd name="connsiteY2-34" fmla="*/ 2620034 h 2620034"/>
              <a:gd name="connsiteX3-35" fmla="*/ 0 w 2619936"/>
              <a:gd name="connsiteY3-36" fmla="*/ 1310017 h 2620034"/>
              <a:gd name="connsiteX4-37" fmla="*/ 1176076 w 2619936"/>
              <a:gd name="connsiteY4-38" fmla="*/ 6764 h 2620034"/>
              <a:gd name="connsiteX5-39" fmla="*/ 1310015 w 2619936"/>
              <a:gd name="connsiteY5-40" fmla="*/ 0 h 262003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619936" h="2620034">
                <a:moveTo>
                  <a:pt x="2619936" y="1311964"/>
                </a:moveTo>
                <a:lnTo>
                  <a:pt x="2613271" y="1443959"/>
                </a:lnTo>
                <a:cubicBezTo>
                  <a:pt x="2546185" y="2104542"/>
                  <a:pt x="1988300" y="2620034"/>
                  <a:pt x="1310017" y="2620034"/>
                </a:cubicBezTo>
                <a:cubicBezTo>
                  <a:pt x="586515" y="2620034"/>
                  <a:pt x="0" y="2033519"/>
                  <a:pt x="0" y="1310017"/>
                </a:cubicBezTo>
                <a:cubicBezTo>
                  <a:pt x="0" y="631734"/>
                  <a:pt x="515492" y="73850"/>
                  <a:pt x="1176076" y="6764"/>
                </a:cubicBezTo>
                <a:lnTo>
                  <a:pt x="1310015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10"/>
          <p:cNvSpPr/>
          <p:nvPr userDrawn="1"/>
        </p:nvSpPr>
        <p:spPr>
          <a:xfrm>
            <a:off x="8026573" y="1129189"/>
            <a:ext cx="2619936" cy="2620034"/>
          </a:xfrm>
          <a:custGeom>
            <a:avLst/>
            <a:gdLst>
              <a:gd name="connsiteX0" fmla="*/ 1310015 w 2619936"/>
              <a:gd name="connsiteY0" fmla="*/ 0 h 2620034"/>
              <a:gd name="connsiteX1" fmla="*/ 1310015 w 2619936"/>
              <a:gd name="connsiteY1" fmla="*/ 1311964 h 2620034"/>
              <a:gd name="connsiteX2" fmla="*/ 2619936 w 2619936"/>
              <a:gd name="connsiteY2" fmla="*/ 1311964 h 2620034"/>
              <a:gd name="connsiteX3" fmla="*/ 2613271 w 2619936"/>
              <a:gd name="connsiteY3" fmla="*/ 1443959 h 2620034"/>
              <a:gd name="connsiteX4" fmla="*/ 1310017 w 2619936"/>
              <a:gd name="connsiteY4" fmla="*/ 2620034 h 2620034"/>
              <a:gd name="connsiteX5" fmla="*/ 0 w 2619936"/>
              <a:gd name="connsiteY5" fmla="*/ 1310017 h 2620034"/>
              <a:gd name="connsiteX6" fmla="*/ 1176076 w 2619936"/>
              <a:gd name="connsiteY6" fmla="*/ 6764 h 2620034"/>
              <a:gd name="connsiteX0-1" fmla="*/ 1310015 w 2619936"/>
              <a:gd name="connsiteY0-2" fmla="*/ 1311964 h 2620034"/>
              <a:gd name="connsiteX1-3" fmla="*/ 2619936 w 2619936"/>
              <a:gd name="connsiteY1-4" fmla="*/ 1311964 h 2620034"/>
              <a:gd name="connsiteX2-5" fmla="*/ 2613271 w 2619936"/>
              <a:gd name="connsiteY2-6" fmla="*/ 1443959 h 2620034"/>
              <a:gd name="connsiteX3-7" fmla="*/ 1310017 w 2619936"/>
              <a:gd name="connsiteY3-8" fmla="*/ 2620034 h 2620034"/>
              <a:gd name="connsiteX4-9" fmla="*/ 0 w 2619936"/>
              <a:gd name="connsiteY4-10" fmla="*/ 1310017 h 2620034"/>
              <a:gd name="connsiteX5-11" fmla="*/ 1176076 w 2619936"/>
              <a:gd name="connsiteY5-12" fmla="*/ 6764 h 2620034"/>
              <a:gd name="connsiteX6-13" fmla="*/ 1310015 w 2619936"/>
              <a:gd name="connsiteY6-14" fmla="*/ 0 h 2620034"/>
              <a:gd name="connsiteX7" fmla="*/ 1401455 w 2619936"/>
              <a:gd name="connsiteY7" fmla="*/ 1403404 h 2620034"/>
              <a:gd name="connsiteX0-15" fmla="*/ 1310015 w 2619936"/>
              <a:gd name="connsiteY0-16" fmla="*/ 1311964 h 2620034"/>
              <a:gd name="connsiteX1-17" fmla="*/ 2619936 w 2619936"/>
              <a:gd name="connsiteY1-18" fmla="*/ 1311964 h 2620034"/>
              <a:gd name="connsiteX2-19" fmla="*/ 2613271 w 2619936"/>
              <a:gd name="connsiteY2-20" fmla="*/ 1443959 h 2620034"/>
              <a:gd name="connsiteX3-21" fmla="*/ 1310017 w 2619936"/>
              <a:gd name="connsiteY3-22" fmla="*/ 2620034 h 2620034"/>
              <a:gd name="connsiteX4-23" fmla="*/ 0 w 2619936"/>
              <a:gd name="connsiteY4-24" fmla="*/ 1310017 h 2620034"/>
              <a:gd name="connsiteX5-25" fmla="*/ 1176076 w 2619936"/>
              <a:gd name="connsiteY5-26" fmla="*/ 6764 h 2620034"/>
              <a:gd name="connsiteX6-27" fmla="*/ 1310015 w 2619936"/>
              <a:gd name="connsiteY6-28" fmla="*/ 0 h 2620034"/>
              <a:gd name="connsiteX0-29" fmla="*/ 2619936 w 2619936"/>
              <a:gd name="connsiteY0-30" fmla="*/ 1311964 h 2620034"/>
              <a:gd name="connsiteX1-31" fmla="*/ 2613271 w 2619936"/>
              <a:gd name="connsiteY1-32" fmla="*/ 1443959 h 2620034"/>
              <a:gd name="connsiteX2-33" fmla="*/ 1310017 w 2619936"/>
              <a:gd name="connsiteY2-34" fmla="*/ 2620034 h 2620034"/>
              <a:gd name="connsiteX3-35" fmla="*/ 0 w 2619936"/>
              <a:gd name="connsiteY3-36" fmla="*/ 1310017 h 2620034"/>
              <a:gd name="connsiteX4-37" fmla="*/ 1176076 w 2619936"/>
              <a:gd name="connsiteY4-38" fmla="*/ 6764 h 2620034"/>
              <a:gd name="connsiteX5-39" fmla="*/ 1310015 w 2619936"/>
              <a:gd name="connsiteY5-40" fmla="*/ 0 h 262003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619936" h="2620034">
                <a:moveTo>
                  <a:pt x="2619936" y="1311964"/>
                </a:moveTo>
                <a:lnTo>
                  <a:pt x="2613271" y="1443959"/>
                </a:lnTo>
                <a:cubicBezTo>
                  <a:pt x="2546185" y="2104542"/>
                  <a:pt x="1988300" y="2620034"/>
                  <a:pt x="1310017" y="2620034"/>
                </a:cubicBezTo>
                <a:cubicBezTo>
                  <a:pt x="586515" y="2620034"/>
                  <a:pt x="0" y="2033519"/>
                  <a:pt x="0" y="1310017"/>
                </a:cubicBezTo>
                <a:cubicBezTo>
                  <a:pt x="0" y="631734"/>
                  <a:pt x="515492" y="73850"/>
                  <a:pt x="1176076" y="6764"/>
                </a:cubicBezTo>
                <a:lnTo>
                  <a:pt x="1310015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3746818" y="2390442"/>
            <a:ext cx="97528" cy="975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椭圆 12"/>
          <p:cNvSpPr/>
          <p:nvPr userDrawn="1"/>
        </p:nvSpPr>
        <p:spPr>
          <a:xfrm>
            <a:off x="7241893" y="2390442"/>
            <a:ext cx="97528" cy="975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椭圆 13"/>
          <p:cNvSpPr/>
          <p:nvPr userDrawn="1"/>
        </p:nvSpPr>
        <p:spPr>
          <a:xfrm>
            <a:off x="10597745" y="2390442"/>
            <a:ext cx="97528" cy="975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图片占位符 16"/>
          <p:cNvSpPr>
            <a:spLocks noGrp="1"/>
          </p:cNvSpPr>
          <p:nvPr>
            <p:ph type="pic" sz="quarter" idx="13"/>
          </p:nvPr>
        </p:nvSpPr>
        <p:spPr>
          <a:xfrm>
            <a:off x="1315435" y="1283230"/>
            <a:ext cx="2318937" cy="231980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16"/>
          <p:cNvSpPr>
            <a:spLocks noGrp="1"/>
          </p:cNvSpPr>
          <p:nvPr>
            <p:ph type="pic" sz="quarter" idx="14"/>
          </p:nvPr>
        </p:nvSpPr>
        <p:spPr>
          <a:xfrm>
            <a:off x="4745356" y="1283230"/>
            <a:ext cx="2318937" cy="231980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5"/>
          </p:nvPr>
        </p:nvSpPr>
        <p:spPr>
          <a:xfrm>
            <a:off x="8175278" y="1283230"/>
            <a:ext cx="2318937" cy="231980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3" name="文本框 32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  <a:endParaRPr lang="zh-CN" altLang="en-US" sz="1600" spc="300" dirty="0">
              <a:solidFill>
                <a:schemeClr val="accent1">
                  <a:alpha val="25000"/>
                </a:schemeClr>
              </a:solidFill>
              <a:latin typeface="管峻楷书简体" panose="02010600010101010101" pitchFamily="2" charset="-122"/>
              <a:ea typeface="管峻楷书简体" panose="02010600010101010101" pitchFamily="2" charset="-122"/>
            </a:endParaRPr>
          </a:p>
        </p:txBody>
      </p:sp>
      <p:sp>
        <p:nvSpPr>
          <p:cNvPr id="80" name="矩形: 圆角 79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1" name="组合 80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2" name="椭圆 81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3" name="组合 82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4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5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24" name="文本占位符 65"/>
          <p:cNvSpPr>
            <a:spLocks noGrp="1"/>
          </p:cNvSpPr>
          <p:nvPr>
            <p:ph type="body" idx="16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8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9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2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9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0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1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23" name="泪滴形 22"/>
          <p:cNvSpPr/>
          <p:nvPr userDrawn="1"/>
        </p:nvSpPr>
        <p:spPr>
          <a:xfrm flipH="1" flipV="1">
            <a:off x="6231956" y="1325419"/>
            <a:ext cx="2284692" cy="2284692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泪滴形 23"/>
          <p:cNvSpPr/>
          <p:nvPr userDrawn="1"/>
        </p:nvSpPr>
        <p:spPr>
          <a:xfrm flipV="1">
            <a:off x="3836026" y="1325419"/>
            <a:ext cx="2284691" cy="2284691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泪滴形 20"/>
          <p:cNvSpPr/>
          <p:nvPr userDrawn="1"/>
        </p:nvSpPr>
        <p:spPr>
          <a:xfrm flipH="1">
            <a:off x="6231956" y="3712424"/>
            <a:ext cx="2284692" cy="2284692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泪滴形 18"/>
          <p:cNvSpPr/>
          <p:nvPr userDrawn="1"/>
        </p:nvSpPr>
        <p:spPr>
          <a:xfrm>
            <a:off x="3836024" y="3712424"/>
            <a:ext cx="2284693" cy="2284693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</a:fld>
            <a:endParaRPr lang="zh-CN" altLang="en-US"/>
          </a:p>
        </p:txBody>
      </p:sp>
      <p:sp>
        <p:nvSpPr>
          <p:cNvPr id="20" name="图片占位符 16"/>
          <p:cNvSpPr>
            <a:spLocks noGrp="1"/>
          </p:cNvSpPr>
          <p:nvPr>
            <p:ph type="pic" sz="quarter" idx="13"/>
          </p:nvPr>
        </p:nvSpPr>
        <p:spPr>
          <a:xfrm flipH="1">
            <a:off x="3921679" y="3817073"/>
            <a:ext cx="2082882" cy="2083662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2" name="图片占位符 16"/>
          <p:cNvSpPr>
            <a:spLocks noGrp="1"/>
          </p:cNvSpPr>
          <p:nvPr>
            <p:ph type="pic" sz="quarter" idx="14"/>
          </p:nvPr>
        </p:nvSpPr>
        <p:spPr>
          <a:xfrm>
            <a:off x="6337011" y="3817073"/>
            <a:ext cx="2082881" cy="2083661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5" name="图片占位符 16"/>
          <p:cNvSpPr>
            <a:spLocks noGrp="1"/>
          </p:cNvSpPr>
          <p:nvPr>
            <p:ph type="pic" sz="quarter" idx="15"/>
          </p:nvPr>
        </p:nvSpPr>
        <p:spPr>
          <a:xfrm flipH="1">
            <a:off x="3921681" y="1428875"/>
            <a:ext cx="2082880" cy="2083660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6" name="图片占位符 16"/>
          <p:cNvSpPr>
            <a:spLocks noGrp="1"/>
          </p:cNvSpPr>
          <p:nvPr>
            <p:ph type="pic" sz="quarter" idx="16"/>
          </p:nvPr>
        </p:nvSpPr>
        <p:spPr>
          <a:xfrm>
            <a:off x="6337011" y="1428873"/>
            <a:ext cx="2082881" cy="2083661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2" name="文本框 41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  <a:endParaRPr lang="zh-CN" altLang="en-US" sz="1600" spc="300" dirty="0">
              <a:solidFill>
                <a:schemeClr val="accent1">
                  <a:alpha val="25000"/>
                </a:schemeClr>
              </a:solidFill>
              <a:latin typeface="管峻楷书简体" panose="02010600010101010101" pitchFamily="2" charset="-122"/>
              <a:ea typeface="管峻楷书简体" panose="02010600010101010101" pitchFamily="2" charset="-122"/>
            </a:endParaRPr>
          </a:p>
        </p:txBody>
      </p:sp>
      <p:sp>
        <p:nvSpPr>
          <p:cNvPr id="89" name="矩形: 圆角 88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0" name="组合 89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91" name="椭圆 90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2" name="组合 91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93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9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0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1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2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3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4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5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7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8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9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0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1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2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33" name="文本占位符 65"/>
          <p:cNvSpPr>
            <a:spLocks noGrp="1"/>
          </p:cNvSpPr>
          <p:nvPr>
            <p:ph type="body" idx="17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手机样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4712208" y="1425576"/>
            <a:ext cx="2761487" cy="5432425"/>
          </a:xfrm>
          <a:custGeom>
            <a:avLst/>
            <a:gdLst>
              <a:gd name="connsiteX0" fmla="*/ 226557 w 2727960"/>
              <a:gd name="connsiteY0" fmla="*/ 0 h 5432425"/>
              <a:gd name="connsiteX1" fmla="*/ 2501403 w 2727960"/>
              <a:gd name="connsiteY1" fmla="*/ 0 h 5432425"/>
              <a:gd name="connsiteX2" fmla="*/ 2727960 w 2727960"/>
              <a:gd name="connsiteY2" fmla="*/ 226557 h 5432425"/>
              <a:gd name="connsiteX3" fmla="*/ 2727960 w 2727960"/>
              <a:gd name="connsiteY3" fmla="*/ 5432425 h 5432425"/>
              <a:gd name="connsiteX4" fmla="*/ 0 w 2727960"/>
              <a:gd name="connsiteY4" fmla="*/ 5432425 h 5432425"/>
              <a:gd name="connsiteX5" fmla="*/ 0 w 2727960"/>
              <a:gd name="connsiteY5" fmla="*/ 226557 h 5432425"/>
              <a:gd name="connsiteX6" fmla="*/ 226557 w 2727960"/>
              <a:gd name="connsiteY6" fmla="*/ 0 h 5432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7960" h="5432425">
                <a:moveTo>
                  <a:pt x="226557" y="0"/>
                </a:moveTo>
                <a:lnTo>
                  <a:pt x="2501403" y="0"/>
                </a:lnTo>
                <a:cubicBezTo>
                  <a:pt x="2626527" y="0"/>
                  <a:pt x="2727960" y="101433"/>
                  <a:pt x="2727960" y="226557"/>
                </a:cubicBezTo>
                <a:lnTo>
                  <a:pt x="2727960" y="5432425"/>
                </a:lnTo>
                <a:lnTo>
                  <a:pt x="0" y="5432425"/>
                </a:lnTo>
                <a:lnTo>
                  <a:pt x="0" y="226557"/>
                </a:lnTo>
                <a:cubicBezTo>
                  <a:pt x="0" y="101433"/>
                  <a:pt x="101433" y="0"/>
                  <a:pt x="2265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157"/>
          <a:stretch>
            <a:fillRect/>
          </a:stretch>
        </p:blipFill>
        <p:spPr>
          <a:xfrm>
            <a:off x="4023982" y="970876"/>
            <a:ext cx="4144035" cy="5887124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  <a:endParaRPr lang="zh-CN" altLang="en-US" sz="1600" spc="300" dirty="0">
              <a:solidFill>
                <a:schemeClr val="accent1">
                  <a:alpha val="25000"/>
                </a:schemeClr>
              </a:solidFill>
              <a:latin typeface="管峻楷书简体" panose="02010600010101010101" pitchFamily="2" charset="-122"/>
              <a:ea typeface="管峻楷书简体" panose="02010600010101010101" pitchFamily="2" charset="-122"/>
            </a:endParaRPr>
          </a:p>
        </p:txBody>
      </p:sp>
      <p:grpSp>
        <p:nvGrpSpPr>
          <p:cNvPr id="14" name="组合 13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5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7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3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4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75" name="矩形: 圆角 74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6" name="组合 75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77" name="椭圆 76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8" name="组合 77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79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0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1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3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4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5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4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5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6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7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8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19" name="文本占位符 65"/>
          <p:cNvSpPr>
            <a:spLocks noGrp="1"/>
          </p:cNvSpPr>
          <p:nvPr>
            <p:ph type="body" idx="13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电脑样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8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3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5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6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7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9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1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65" name="椭圆 64"/>
          <p:cNvSpPr/>
          <p:nvPr userDrawn="1"/>
        </p:nvSpPr>
        <p:spPr>
          <a:xfrm>
            <a:off x="6958403" y="5702153"/>
            <a:ext cx="2640760" cy="529481"/>
          </a:xfrm>
          <a:prstGeom prst="ellipse">
            <a:avLst/>
          </a:prstGeom>
          <a:solidFill>
            <a:schemeClr val="bg2">
              <a:lumMod val="50000"/>
              <a:alpha val="32000"/>
            </a:scheme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469" y="1494982"/>
            <a:ext cx="5799137" cy="4525085"/>
          </a:xfrm>
          <a:prstGeom prst="rect">
            <a:avLst/>
          </a:prstGeom>
        </p:spPr>
      </p:pic>
      <p:sp>
        <p:nvSpPr>
          <p:cNvPr id="23" name="图片占位符 22"/>
          <p:cNvSpPr>
            <a:spLocks noGrp="1"/>
          </p:cNvSpPr>
          <p:nvPr>
            <p:ph type="pic" sz="quarter" idx="10"/>
          </p:nvPr>
        </p:nvSpPr>
        <p:spPr>
          <a:xfrm>
            <a:off x="5575656" y="1711325"/>
            <a:ext cx="5324475" cy="30146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4" name="文本框 23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  <a:endParaRPr lang="zh-CN" altLang="en-US" sz="1600" spc="300" dirty="0">
              <a:solidFill>
                <a:schemeClr val="accent1">
                  <a:alpha val="25000"/>
                </a:schemeClr>
              </a:solidFill>
              <a:latin typeface="管峻楷书简体" panose="02010600010101010101" pitchFamily="2" charset="-122"/>
              <a:ea typeface="管峻楷书简体" panose="02010600010101010101" pitchFamily="2" charset="-122"/>
            </a:endParaRPr>
          </a:p>
        </p:txBody>
      </p:sp>
      <p:sp>
        <p:nvSpPr>
          <p:cNvPr id="70" name="矩形: 圆角 69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1" name="组合 70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72" name="椭圆 71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3" name="组合 72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74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5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6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7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8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0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1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3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4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5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6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7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9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1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3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4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5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6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7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8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9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0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2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3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4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5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6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7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8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9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0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1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2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3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114" name="文本占位符 65"/>
          <p:cNvSpPr>
            <a:spLocks noGrp="1"/>
          </p:cNvSpPr>
          <p:nvPr>
            <p:ph type="body" idx="13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音乐播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</a:fld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7989570" y="2431013"/>
            <a:ext cx="2595932" cy="2595932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矩形: 圆角 8"/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11" name="椭圆 10"/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13" name="Freeform 7"/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" name="Freeform 9"/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0"/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" name="Freeform 11"/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" name="Freeform 12"/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" name="Freeform 13"/>
              <p:cNvSpPr/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 14"/>
              <p:cNvSpPr/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5"/>
              <p:cNvSpPr/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16"/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7"/>
              <p:cNvSpPr/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18"/>
              <p:cNvSpPr/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19"/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Freeform 20"/>
              <p:cNvSpPr/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21"/>
              <p:cNvSpPr/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Freeform 22"/>
              <p:cNvSpPr/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 23"/>
              <p:cNvSpPr/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24"/>
              <p:cNvSpPr/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Freeform 25"/>
              <p:cNvSpPr/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26"/>
              <p:cNvSpPr/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27"/>
              <p:cNvSpPr/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28"/>
              <p:cNvSpPr/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Freeform 29"/>
              <p:cNvSpPr/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Freeform 30"/>
              <p:cNvSpPr/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Freeform 31"/>
              <p:cNvSpPr/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 32"/>
              <p:cNvSpPr/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Freeform 33"/>
              <p:cNvSpPr/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34"/>
              <p:cNvSpPr/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46"/>
              <p:cNvSpPr/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Freeform 47"/>
              <p:cNvSpPr/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" name="Freeform 48"/>
              <p:cNvSpPr/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" name="Freeform 49"/>
              <p:cNvSpPr/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Freeform 50"/>
              <p:cNvSpPr/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Freeform 51"/>
              <p:cNvSpPr/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" name="Freeform 52"/>
              <p:cNvSpPr/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" name="Freeform 53"/>
              <p:cNvSpPr/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54"/>
              <p:cNvSpPr/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" name="Freeform 55"/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 56"/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 57"/>
              <p:cNvSpPr/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2" name="Freeform 58"/>
              <p:cNvSpPr/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53" name="文本占位符 65"/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  <a:endParaRPr lang="zh-CN" altLang="en-US" dirty="0"/>
          </a:p>
        </p:txBody>
      </p:sp>
      <p:sp>
        <p:nvSpPr>
          <p:cNvPr id="54" name="文本框 53"/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  <a:endParaRPr lang="zh-CN" altLang="en-US" sz="1600" spc="300" dirty="0">
              <a:solidFill>
                <a:schemeClr val="accent1">
                  <a:alpha val="25000"/>
                </a:schemeClr>
              </a:solidFill>
              <a:latin typeface="管峻楷书简体" panose="02010600010101010101" pitchFamily="2" charset="-122"/>
              <a:ea typeface="管峻楷书简体" panose="02010600010101010101" pitchFamily="2" charset="-122"/>
            </a:endParaRPr>
          </a:p>
        </p:txBody>
      </p:sp>
      <p:grpSp>
        <p:nvGrpSpPr>
          <p:cNvPr id="55" name="组合 54"/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56" name="Freeform 19"/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7" name="Freeform 20"/>
            <p:cNvSpPr/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8" name="Freeform 22"/>
            <p:cNvSpPr/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59" name="Freeform 23"/>
            <p:cNvSpPr/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0" name="Freeform 24"/>
            <p:cNvSpPr/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1" name="Freeform 25"/>
            <p:cNvSpPr/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2" name="Freeform 26"/>
            <p:cNvSpPr/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3" name="Freeform 31"/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4" name="Freeform 33"/>
            <p:cNvSpPr/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5" name="Freeform 35"/>
            <p:cNvSpPr/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6" name="Freeform 36"/>
            <p:cNvSpPr/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7" name="Freeform 38"/>
            <p:cNvSpPr/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8" name="Freeform 39"/>
            <p:cNvSpPr/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69" name="Freeform 40"/>
            <p:cNvSpPr/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849147" y="6382534"/>
            <a:ext cx="1093711" cy="369332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ctr"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第 </a:t>
            </a:r>
            <a:fld id="{2EEF1883-7A0E-4F66-9932-E581691AD397}" type="slidenum"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Up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6C455-D181-459A-8014-67AAEFFCA7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21020-7931-4610-B95E-80A53469F59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7.xml"/><Relationship Id="rId3" Type="http://schemas.microsoft.com/office/2007/relationships/hdphoto" Target="../media/image9.wdp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microsoft.com/office/2007/relationships/hdphoto" Target="../media/image9.wdp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microsoft.com/office/2007/relationships/hdphoto" Target="../media/image9.wdp"/><Relationship Id="rId5" Type="http://schemas.openxmlformats.org/officeDocument/2006/relationships/image" Target="../media/image8.png"/><Relationship Id="rId4" Type="http://schemas.microsoft.com/office/2007/relationships/hdphoto" Target="../media/image16.wdp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4.xml"/><Relationship Id="rId4" Type="http://schemas.microsoft.com/office/2007/relationships/hdphoto" Target="../media/image9.wdp"/><Relationship Id="rId3" Type="http://schemas.openxmlformats.org/officeDocument/2006/relationships/image" Target="../media/image8.png"/><Relationship Id="rId2" Type="http://schemas.microsoft.com/office/2007/relationships/hdphoto" Target="../media/image16.wdp"/><Relationship Id="rId1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slideLayout" Target="../slideLayouts/slideLayout17.xml"/><Relationship Id="rId16" Type="http://schemas.microsoft.com/office/2007/relationships/hdphoto" Target="../media/image9.wdp"/><Relationship Id="rId15" Type="http://schemas.openxmlformats.org/officeDocument/2006/relationships/image" Target="../media/image8.png"/><Relationship Id="rId14" Type="http://schemas.openxmlformats.org/officeDocument/2006/relationships/image" Target="../media/image23.png"/><Relationship Id="rId13" Type="http://schemas.openxmlformats.org/officeDocument/2006/relationships/image" Target="../media/image22.png"/><Relationship Id="rId12" Type="http://schemas.openxmlformats.org/officeDocument/2006/relationships/image" Target="../media/image21.png"/><Relationship Id="rId11" Type="http://schemas.openxmlformats.org/officeDocument/2006/relationships/image" Target="../media/image20.png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24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7.xml"/><Relationship Id="rId3" Type="http://schemas.microsoft.com/office/2007/relationships/hdphoto" Target="../media/image9.wdp"/><Relationship Id="rId2" Type="http://schemas.openxmlformats.org/officeDocument/2006/relationships/image" Target="../media/image8.png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27.png"/><Relationship Id="rId2" Type="http://schemas.microsoft.com/office/2007/relationships/hdphoto" Target="../media/image26.wdp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28.png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60" b="8260"/>
          <a:stretch>
            <a:fillRect/>
          </a:stretch>
        </p:blipFill>
        <p:spPr bwMode="auto">
          <a:xfrm>
            <a:off x="0" y="2013272"/>
            <a:ext cx="12187003" cy="317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/>
          <p:cNvSpPr/>
          <p:nvPr/>
        </p:nvSpPr>
        <p:spPr>
          <a:xfrm>
            <a:off x="0" y="2007321"/>
            <a:ext cx="12191999" cy="3183250"/>
          </a:xfrm>
          <a:prstGeom prst="rect">
            <a:avLst/>
          </a:prstGeom>
          <a:gradFill>
            <a:gsLst>
              <a:gs pos="0">
                <a:srgbClr val="A3050E"/>
              </a:gs>
              <a:gs pos="74000">
                <a:srgbClr val="A3050E">
                  <a:alpha val="60000"/>
                </a:srgbClr>
              </a:gs>
              <a:gs pos="37000">
                <a:srgbClr val="A3050E">
                  <a:alpha val="80000"/>
                </a:srgbClr>
              </a:gs>
              <a:gs pos="100000">
                <a:srgbClr val="A3050E">
                  <a:alpha val="90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4492691" y="6173914"/>
            <a:ext cx="7453220" cy="385676"/>
            <a:chOff x="-1558898" y="6015241"/>
            <a:chExt cx="7202949" cy="278245"/>
          </a:xfrm>
        </p:grpSpPr>
        <p:sp>
          <p:nvSpPr>
            <p:cNvPr id="38" name="TextBox 14"/>
            <p:cNvSpPr txBox="1"/>
            <p:nvPr/>
          </p:nvSpPr>
          <p:spPr>
            <a:xfrm>
              <a:off x="-1558898" y="6015241"/>
              <a:ext cx="3122390" cy="2432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</a:rPr>
                <a:t>小组成员：师露文、卫怡璇、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961318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</a:rPr>
                <a:t>袁璐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39" name="TextBox 28"/>
            <p:cNvSpPr txBox="1"/>
            <p:nvPr/>
          </p:nvSpPr>
          <p:spPr>
            <a:xfrm>
              <a:off x="3123554" y="6050225"/>
              <a:ext cx="299475" cy="2432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40" name="TextBox 90"/>
            <p:cNvSpPr txBox="1"/>
            <p:nvPr/>
          </p:nvSpPr>
          <p:spPr>
            <a:xfrm>
              <a:off x="5344576" y="6044326"/>
              <a:ext cx="299475" cy="2432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61318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endParaRPr>
            </a:p>
          </p:txBody>
        </p:sp>
      </p:grpSp>
      <p:grpSp>
        <p:nvGrpSpPr>
          <p:cNvPr id="41" name="Group 15"/>
          <p:cNvGrpSpPr/>
          <p:nvPr/>
        </p:nvGrpSpPr>
        <p:grpSpPr>
          <a:xfrm>
            <a:off x="1" y="2321859"/>
            <a:ext cx="12215445" cy="2501922"/>
            <a:chOff x="-1504285" y="2557284"/>
            <a:chExt cx="10824150" cy="2501922"/>
          </a:xfrm>
        </p:grpSpPr>
        <p:sp>
          <p:nvSpPr>
            <p:cNvPr id="42" name="Rectangle 9"/>
            <p:cNvSpPr/>
            <p:nvPr/>
          </p:nvSpPr>
          <p:spPr>
            <a:xfrm>
              <a:off x="-1079235" y="2557284"/>
              <a:ext cx="9948846" cy="19380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6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基于</a:t>
              </a: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SOP</a:t>
              </a:r>
              <a:r>
                <a:rPr kumimoji="0" lang="zh-CN" altLang="en-US" sz="6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的角色化农业咨询对话生成</a:t>
              </a:r>
              <a:r>
                <a:rPr kumimoji="0" lang="zh-CN" altLang="en-US" sz="6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阿里巴巴普惠体 B" panose="00020600040101010101" pitchFamily="18" charset="-122"/>
                </a:rPr>
                <a:t>数据集</a:t>
              </a:r>
              <a:endPara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43" name="Rectangle 10"/>
            <p:cNvSpPr/>
            <p:nvPr/>
          </p:nvSpPr>
          <p:spPr>
            <a:xfrm>
              <a:off x="-1504285" y="4690906"/>
              <a:ext cx="10824150" cy="3683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</p:grpSp>
      <p:cxnSp>
        <p:nvCxnSpPr>
          <p:cNvPr id="44" name="直接连接符 43"/>
          <p:cNvCxnSpPr>
            <a:endCxn id="22" idx="1"/>
          </p:cNvCxnSpPr>
          <p:nvPr/>
        </p:nvCxnSpPr>
        <p:spPr>
          <a:xfrm>
            <a:off x="-884420" y="5455934"/>
            <a:ext cx="6228990" cy="43224"/>
          </a:xfrm>
          <a:prstGeom prst="line">
            <a:avLst/>
          </a:prstGeom>
          <a:noFill/>
          <a:ln w="38100" cap="flat" cmpd="sng" algn="ctr">
            <a:solidFill>
              <a:srgbClr val="961318"/>
            </a:solidFill>
            <a:prstDash val="solid"/>
            <a:miter lim="800000"/>
          </a:ln>
          <a:effectLst/>
        </p:spPr>
      </p:cxnSp>
      <p:cxnSp>
        <p:nvCxnSpPr>
          <p:cNvPr id="45" name="直接连接符 44"/>
          <p:cNvCxnSpPr>
            <a:stCxn id="22" idx="3"/>
          </p:cNvCxnSpPr>
          <p:nvPr/>
        </p:nvCxnSpPr>
        <p:spPr>
          <a:xfrm flipV="1">
            <a:off x="6870876" y="5455934"/>
            <a:ext cx="5975694" cy="43224"/>
          </a:xfrm>
          <a:prstGeom prst="line">
            <a:avLst/>
          </a:prstGeom>
          <a:noFill/>
          <a:ln w="38100" cap="flat" cmpd="sng" algn="ctr">
            <a:solidFill>
              <a:srgbClr val="961318"/>
            </a:solidFill>
            <a:prstDash val="solid"/>
            <a:miter lim="800000"/>
          </a:ln>
          <a:effectLst/>
        </p:spPr>
      </p:cxnSp>
      <p:grpSp>
        <p:nvGrpSpPr>
          <p:cNvPr id="18" name="组合 17"/>
          <p:cNvGrpSpPr/>
          <p:nvPr/>
        </p:nvGrpSpPr>
        <p:grpSpPr>
          <a:xfrm>
            <a:off x="3546045" y="503548"/>
            <a:ext cx="4751224" cy="1310637"/>
            <a:chOff x="1013385" y="386506"/>
            <a:chExt cx="4228542" cy="1166454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3385" y="386506"/>
              <a:ext cx="1161573" cy="1166454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341918" y="523819"/>
              <a:ext cx="2896218" cy="640678"/>
            </a:xfrm>
            <a:prstGeom prst="rect">
              <a:avLst/>
            </a:prstGeom>
          </p:spPr>
        </p:pic>
        <p:sp>
          <p:nvSpPr>
            <p:cNvPr id="21" name="矩形 20"/>
            <p:cNvSpPr/>
            <p:nvPr/>
          </p:nvSpPr>
          <p:spPr>
            <a:xfrm>
              <a:off x="2301895" y="1128876"/>
              <a:ext cx="2940032" cy="3013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defRPr/>
              </a:pPr>
              <a:r>
                <a:rPr lang="en-US" altLang="zh-CN" sz="1600" b="1" dirty="0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</a:rPr>
                <a:t>RENMIN UNIVERSITY OF CHINA</a:t>
              </a:r>
              <a:endParaRPr lang="zh-CN" altLang="en-US" sz="1600" b="1" dirty="0">
                <a:solidFill>
                  <a:srgbClr val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12312" y="5298734"/>
            <a:ext cx="1390821" cy="4008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44366" y="486734"/>
            <a:ext cx="6170949" cy="6196878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370330" y="2483485"/>
            <a:ext cx="9620250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defTabSz="1219200">
              <a:lnSpc>
                <a:spcPct val="150000"/>
              </a:lnSpc>
            </a:pPr>
            <a:r>
              <a:rPr lang="zh-CN" altLang="en-US" dirty="0">
                <a:solidFill>
                  <a:srgbClr val="A6222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当前面向农业领域的中文问答数据集，普遍存在提问方式</a:t>
            </a:r>
            <a:r>
              <a:rPr lang="zh-CN" altLang="en-US" b="1" dirty="0">
                <a:solidFill>
                  <a:srgbClr val="A6222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过于书面化</a:t>
            </a:r>
            <a:r>
              <a:rPr lang="zh-CN" altLang="en-US" dirty="0">
                <a:solidFill>
                  <a:srgbClr val="A6222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、与真实田间</a:t>
            </a:r>
            <a:r>
              <a:rPr lang="zh-CN" altLang="en-US" b="1" u="sng" dirty="0">
                <a:solidFill>
                  <a:srgbClr val="A6222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表述脱节</a:t>
            </a:r>
            <a:r>
              <a:rPr lang="zh-CN" altLang="en-US" dirty="0">
                <a:solidFill>
                  <a:srgbClr val="A6222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的问题。农民在咨询时往往</a:t>
            </a:r>
            <a:r>
              <a:rPr lang="zh-CN" altLang="en-US" b="1" u="sng" dirty="0">
                <a:solidFill>
                  <a:srgbClr val="A6222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描述零散、信息不完整</a:t>
            </a:r>
            <a:r>
              <a:rPr lang="zh-CN" altLang="en-US" dirty="0">
                <a:solidFill>
                  <a:srgbClr val="A6222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且受自身经验、角色和具体场景影响，同一个问题在不同情境下的表达和诉求差异极大。而现有数据集大多缺乏对不同农户角色、咨询切入口和应答边界的系统刻画。这使得基于此类数据构建的问答系统难以理解农民的真实意图，给出的建议也常常缺乏针对性和可落地性。因此，我们以甘蔗种植为场景，聚焦于</a:t>
            </a:r>
            <a:r>
              <a:rPr lang="zh-CN" altLang="en-US" b="1" u="sng" dirty="0">
                <a:solidFill>
                  <a:srgbClr val="A6222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“有据可循”</a:t>
            </a:r>
            <a:r>
              <a:rPr lang="zh-CN" altLang="en-US" dirty="0">
                <a:solidFill>
                  <a:srgbClr val="A6222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</a:t>
            </a:r>
            <a:r>
              <a:rPr lang="zh-CN" altLang="en-US" b="1" u="sng" dirty="0">
                <a:solidFill>
                  <a:srgbClr val="A6222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“场景真实”</a:t>
            </a:r>
            <a:r>
              <a:rPr lang="zh-CN" altLang="en-US" dirty="0">
                <a:solidFill>
                  <a:srgbClr val="A6222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两个核心诉求：让每一个问题都能追溯至明确的技术规程，同时让对话充分体现</a:t>
            </a:r>
            <a:r>
              <a:rPr lang="zh-CN" altLang="en-US" b="1" u="sng" dirty="0">
                <a:solidFill>
                  <a:srgbClr val="A6222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不同农户风格</a:t>
            </a:r>
            <a:r>
              <a:rPr lang="zh-CN" altLang="en-US" dirty="0">
                <a:solidFill>
                  <a:srgbClr val="A6222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、具体</a:t>
            </a:r>
            <a:r>
              <a:rPr lang="zh-CN" altLang="en-US" b="1" u="sng" dirty="0">
                <a:solidFill>
                  <a:srgbClr val="A6222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问题情境</a:t>
            </a:r>
            <a:r>
              <a:rPr lang="zh-CN" altLang="en-US" dirty="0">
                <a:solidFill>
                  <a:srgbClr val="A6222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以及自然的</a:t>
            </a:r>
            <a:r>
              <a:rPr lang="zh-CN" altLang="en-US" b="1" u="sng" dirty="0">
                <a:solidFill>
                  <a:srgbClr val="A6222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信息传递过程</a:t>
            </a:r>
            <a:r>
              <a:rPr lang="zh-CN" altLang="en-US" dirty="0">
                <a:solidFill>
                  <a:srgbClr val="A6222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。为农业生产咨询构建一套既贴合规程、又贴近真实交流习惯的问答资源，从而真正提升技术指导的响应质量与落地效果。</a:t>
            </a:r>
            <a:endParaRPr lang="zh-CN" altLang="en-US" dirty="0">
              <a:solidFill>
                <a:srgbClr val="A6222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TextBox 4"/>
          <p:cNvSpPr txBox="1"/>
          <p:nvPr/>
        </p:nvSpPr>
        <p:spPr>
          <a:xfrm>
            <a:off x="1998334" y="1313782"/>
            <a:ext cx="1808480" cy="1076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219200"/>
            <a:r>
              <a:rPr lang="zh-CN" altLang="en-US" sz="6400" b="1" dirty="0">
                <a:ln w="6350">
                  <a:noFill/>
                </a:ln>
                <a:solidFill>
                  <a:srgbClr val="A62221"/>
                </a:solidFill>
                <a:latin typeface="微软雅黑" panose="020B0503020204020204" charset="-122"/>
                <a:ea typeface="微软雅黑" panose="020B0503020204020204" charset="-122"/>
              </a:rPr>
              <a:t>背景</a:t>
            </a:r>
            <a:endParaRPr lang="zh-CN" altLang="en-US" sz="6400" b="1" dirty="0">
              <a:ln w="6350">
                <a:noFill/>
              </a:ln>
              <a:solidFill>
                <a:srgbClr val="A6222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任意多边形 5"/>
          <p:cNvSpPr/>
          <p:nvPr/>
        </p:nvSpPr>
        <p:spPr>
          <a:xfrm>
            <a:off x="1194435" y="1716405"/>
            <a:ext cx="9892665" cy="4532630"/>
          </a:xfrm>
          <a:custGeom>
            <a:avLst/>
            <a:gdLst>
              <a:gd name="connsiteX0" fmla="*/ 2076450 w 7210425"/>
              <a:gd name="connsiteY0" fmla="*/ 0 h 3076575"/>
              <a:gd name="connsiteX1" fmla="*/ 7210425 w 7210425"/>
              <a:gd name="connsiteY1" fmla="*/ 0 h 3076575"/>
              <a:gd name="connsiteX2" fmla="*/ 7210425 w 7210425"/>
              <a:gd name="connsiteY2" fmla="*/ 3076575 h 3076575"/>
              <a:gd name="connsiteX3" fmla="*/ 0 w 7210425"/>
              <a:gd name="connsiteY3" fmla="*/ 3076575 h 3076575"/>
              <a:gd name="connsiteX4" fmla="*/ 0 w 7210425"/>
              <a:gd name="connsiteY4" fmla="*/ 228600 h 3076575"/>
              <a:gd name="connsiteX5" fmla="*/ 333375 w 7210425"/>
              <a:gd name="connsiteY5" fmla="*/ 228600 h 307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10425" h="3076575">
                <a:moveTo>
                  <a:pt x="2076450" y="0"/>
                </a:moveTo>
                <a:lnTo>
                  <a:pt x="7210425" y="0"/>
                </a:lnTo>
                <a:lnTo>
                  <a:pt x="7210425" y="3076575"/>
                </a:lnTo>
                <a:lnTo>
                  <a:pt x="0" y="3076575"/>
                </a:lnTo>
                <a:lnTo>
                  <a:pt x="0" y="228600"/>
                </a:lnTo>
                <a:lnTo>
                  <a:pt x="333375" y="228600"/>
                </a:lnTo>
              </a:path>
            </a:pathLst>
          </a:custGeom>
          <a:noFill/>
          <a:ln w="25400" cap="flat" cmpd="sng" algn="ctr">
            <a:solidFill>
              <a:srgbClr val="C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19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0" y="0"/>
            <a:ext cx="12192000" cy="731711"/>
          </a:xfrm>
          <a:prstGeom prst="rect">
            <a:avLst/>
          </a:prstGeom>
          <a:solidFill>
            <a:srgbClr val="AE0C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A62221"/>
              </a:solidFill>
              <a:cs typeface="+mn-ea"/>
              <a:sym typeface="+mn-lt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2068195" y="0"/>
            <a:ext cx="1621155" cy="802640"/>
          </a:xfrm>
          <a:prstGeom prst="rect">
            <a:avLst/>
          </a:prstGeom>
          <a:solidFill>
            <a:srgbClr val="A62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选题背景</a:t>
            </a:r>
            <a:endParaRPr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074" t="14426" b="13696"/>
          <a:stretch>
            <a:fillRect/>
          </a:stretch>
        </p:blipFill>
        <p:spPr>
          <a:xfrm>
            <a:off x="21630" y="146241"/>
            <a:ext cx="1890395" cy="457835"/>
          </a:xfrm>
          <a:prstGeom prst="rect">
            <a:avLst/>
          </a:prstGeom>
        </p:spPr>
      </p:pic>
      <p:sp>
        <p:nvSpPr>
          <p:cNvPr id="84" name="矩形 83"/>
          <p:cNvSpPr/>
          <p:nvPr/>
        </p:nvSpPr>
        <p:spPr>
          <a:xfrm>
            <a:off x="3689206" y="-12602"/>
            <a:ext cx="1620000" cy="74451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研究意义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5306770" y="-5808"/>
            <a:ext cx="1619885" cy="738411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765B59"/>
                </a:solidFill>
                <a:cs typeface="+mn-ea"/>
                <a:sym typeface="+mn-lt"/>
              </a:rPr>
              <a:t>SOP</a:t>
            </a:r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提取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6926580" y="-12700"/>
            <a:ext cx="1618615" cy="746125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对话生成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8545195" y="-12700"/>
            <a:ext cx="1621155" cy="74422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成果展示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0158743" y="-12603"/>
            <a:ext cx="1589951" cy="74451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结语致谢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bldLvl="0" animBg="1"/>
      <p:bldP spid="86" grpId="0" bldLvl="0" animBg="1"/>
      <p:bldP spid="84" grpId="0" bldLvl="0" animBg="1"/>
      <p:bldP spid="83" grpId="0" bldLvl="0" animBg="1"/>
      <p:bldP spid="85" grpId="0" bldLvl="0" animBg="1"/>
      <p:bldP spid="87" grpId="0" bldLvl="0" animBg="1"/>
      <p:bldP spid="88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6" name="图片 3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44366" y="486734"/>
            <a:ext cx="6170949" cy="6196878"/>
          </a:xfrm>
          <a:prstGeom prst="rect">
            <a:avLst/>
          </a:prstGeom>
        </p:spPr>
      </p:pic>
      <p:sp>
        <p:nvSpPr>
          <p:cNvPr id="81" name="矩形 80"/>
          <p:cNvSpPr/>
          <p:nvPr/>
        </p:nvSpPr>
        <p:spPr>
          <a:xfrm>
            <a:off x="0" y="0"/>
            <a:ext cx="12192000" cy="731711"/>
          </a:xfrm>
          <a:prstGeom prst="rect">
            <a:avLst/>
          </a:prstGeom>
          <a:solidFill>
            <a:srgbClr val="AE0C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306770" y="-5808"/>
            <a:ext cx="1619885" cy="738411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工作流展示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8545195" y="-12700"/>
            <a:ext cx="1621155" cy="744855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成果展示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0158743" y="-12603"/>
            <a:ext cx="1589951" cy="74451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结语致谢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074" t="14426" b="13696"/>
          <a:stretch>
            <a:fillRect/>
          </a:stretch>
        </p:blipFill>
        <p:spPr>
          <a:xfrm>
            <a:off x="21630" y="146241"/>
            <a:ext cx="1890395" cy="457835"/>
          </a:xfrm>
          <a:prstGeom prst="rect">
            <a:avLst/>
          </a:prstGeom>
        </p:spPr>
      </p:pic>
      <p:sp>
        <p:nvSpPr>
          <p:cNvPr id="86" name="矩形 85"/>
          <p:cNvSpPr/>
          <p:nvPr/>
        </p:nvSpPr>
        <p:spPr>
          <a:xfrm>
            <a:off x="3691890" y="-12700"/>
            <a:ext cx="1621155" cy="802640"/>
          </a:xfrm>
          <a:prstGeom prst="rect">
            <a:avLst/>
          </a:prstGeom>
          <a:solidFill>
            <a:srgbClr val="A62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研究意义</a:t>
            </a:r>
            <a:endParaRPr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2068051" y="-12602"/>
            <a:ext cx="1620000" cy="74451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选题背景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6926580" y="-12700"/>
            <a:ext cx="1618615" cy="746125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研究内容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025" y="1332865"/>
            <a:ext cx="2473325" cy="20808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7635" y="1278890"/>
            <a:ext cx="2406650" cy="2134870"/>
          </a:xfrm>
          <a:prstGeom prst="rect">
            <a:avLst/>
          </a:prstGeom>
          <a:solidFill>
            <a:srgbClr val="A62221">
              <a:alpha val="70000"/>
            </a:srgbClr>
          </a:solidFill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5650" y="4111625"/>
            <a:ext cx="4034790" cy="2280285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>
            <a:off x="-19050" y="3698875"/>
            <a:ext cx="8693150" cy="0"/>
          </a:xfrm>
          <a:prstGeom prst="straightConnector1">
            <a:avLst/>
          </a:prstGeom>
          <a:ln w="95250">
            <a:solidFill>
              <a:srgbClr val="A6222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上箭头 9"/>
          <p:cNvSpPr/>
          <p:nvPr/>
        </p:nvSpPr>
        <p:spPr>
          <a:xfrm>
            <a:off x="1836420" y="3368675"/>
            <a:ext cx="75565" cy="285750"/>
          </a:xfrm>
          <a:prstGeom prst="upArrow">
            <a:avLst/>
          </a:prstGeom>
          <a:solidFill>
            <a:srgbClr val="A62221"/>
          </a:solidFill>
          <a:ln w="31750">
            <a:solidFill>
              <a:srgbClr val="A6222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上箭头 10"/>
          <p:cNvSpPr/>
          <p:nvPr/>
        </p:nvSpPr>
        <p:spPr>
          <a:xfrm>
            <a:off x="6373495" y="3349625"/>
            <a:ext cx="75565" cy="285750"/>
          </a:xfrm>
          <a:prstGeom prst="upArrow">
            <a:avLst/>
          </a:prstGeom>
          <a:solidFill>
            <a:srgbClr val="A62221"/>
          </a:solidFill>
          <a:ln w="31750">
            <a:solidFill>
              <a:srgbClr val="A6222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上箭头 11"/>
          <p:cNvSpPr/>
          <p:nvPr/>
        </p:nvSpPr>
        <p:spPr>
          <a:xfrm rot="10800000">
            <a:off x="3960495" y="3762375"/>
            <a:ext cx="75565" cy="285750"/>
          </a:xfrm>
          <a:prstGeom prst="upArrow">
            <a:avLst/>
          </a:prstGeom>
          <a:solidFill>
            <a:srgbClr val="A62221"/>
          </a:solidFill>
          <a:ln w="31750">
            <a:solidFill>
              <a:srgbClr val="A6222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8953500" y="2854325"/>
            <a:ext cx="2210435" cy="1715135"/>
          </a:xfrm>
          <a:prstGeom prst="roundRect">
            <a:avLst/>
          </a:prstGeom>
          <a:noFill/>
          <a:ln w="25400">
            <a:solidFill>
              <a:srgbClr val="A6222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9189085" y="3007995"/>
            <a:ext cx="1777365" cy="1509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30000"/>
              </a:lnSpc>
            </a:pPr>
            <a:r>
              <a:rPr lang="zh-CN" altLang="en-US" sz="1600" dirty="0" smtClean="0">
                <a:latin typeface="黑体" panose="02010609060101010101" charset="-122"/>
                <a:ea typeface="黑体" panose="02010609060101010101" charset="-122"/>
              </a:rPr>
              <a:t>最终产出</a:t>
            </a:r>
            <a:r>
              <a:rPr lang="zh-CN" altLang="en-US" sz="1600" dirty="0" smtClean="0">
                <a:latin typeface="黑体" panose="02010609060101010101" charset="-122"/>
                <a:ea typeface="黑体" panose="02010609060101010101" charset="-122"/>
                <a:sym typeface="+mn-ea"/>
              </a:rPr>
              <a:t>兼具</a:t>
            </a:r>
            <a:r>
              <a:rPr lang="zh-CN" altLang="en-US" sz="1600" b="1" dirty="0" smtClean="0">
                <a:latin typeface="黑体" panose="02010609060101010101" charset="-122"/>
                <a:ea typeface="黑体" panose="02010609060101010101" charset="-122"/>
                <a:sym typeface="+mn-ea"/>
              </a:rPr>
              <a:t>规程约束</a:t>
            </a:r>
            <a:r>
              <a:rPr lang="zh-CN" altLang="en-US" sz="1600" dirty="0" smtClean="0">
                <a:latin typeface="黑体" panose="02010609060101010101" charset="-122"/>
                <a:ea typeface="黑体" panose="02010609060101010101" charset="-122"/>
                <a:sym typeface="+mn-ea"/>
              </a:rPr>
              <a:t>与</a:t>
            </a:r>
            <a:r>
              <a:rPr lang="zh-CN" altLang="en-US" sz="1600" b="1" dirty="0" smtClean="0">
                <a:latin typeface="黑体" panose="02010609060101010101" charset="-122"/>
                <a:ea typeface="黑体" panose="02010609060101010101" charset="-122"/>
                <a:sym typeface="+mn-ea"/>
              </a:rPr>
              <a:t>真实交流习惯</a:t>
            </a:r>
            <a:r>
              <a:rPr lang="zh-CN" altLang="en-US" sz="1600" dirty="0" smtClean="0">
                <a:latin typeface="黑体" panose="02010609060101010101" charset="-122"/>
                <a:ea typeface="黑体" panose="02010609060101010101" charset="-122"/>
              </a:rPr>
              <a:t>的</a:t>
            </a:r>
            <a:r>
              <a:rPr lang="zh-CN" altLang="en-US" sz="1600" b="1" dirty="0" smtClean="0">
                <a:latin typeface="黑体" panose="02010609060101010101" charset="-122"/>
                <a:ea typeface="黑体" panose="02010609060101010101" charset="-122"/>
              </a:rPr>
              <a:t>多轮</a:t>
            </a:r>
            <a:r>
              <a:rPr lang="zh-CN" altLang="en-US" sz="1600" dirty="0" smtClean="0">
                <a:latin typeface="黑体" panose="02010609060101010101" charset="-122"/>
                <a:ea typeface="黑体" panose="02010609060101010101" charset="-122"/>
              </a:rPr>
              <a:t>对话数据集</a:t>
            </a:r>
            <a:endParaRPr lang="zh-CN" altLang="en-US" sz="1600" dirty="0" smtClean="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bldLvl="0" animBg="1"/>
      <p:bldP spid="4" grpId="0" bldLvl="0" animBg="1"/>
      <p:bldP spid="87" grpId="0" bldLvl="0" animBg="1"/>
      <p:bldP spid="88" grpId="0" bldLvl="0" animBg="1"/>
      <p:bldP spid="86" grpId="0" bldLvl="0" animBg="1"/>
      <p:bldP spid="84" grpId="0" bldLvl="0" animBg="1"/>
      <p:bldP spid="85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434" b="-3458"/>
          <a:stretch>
            <a:fillRect/>
          </a:stretch>
        </p:blipFill>
        <p:spPr>
          <a:xfrm>
            <a:off x="9984432" y="248869"/>
            <a:ext cx="1915477" cy="431348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515" y="68804"/>
            <a:ext cx="6741485" cy="674148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7359" y="6334614"/>
            <a:ext cx="1584176" cy="416046"/>
          </a:xfrm>
          <a:prstGeom prst="rect">
            <a:avLst/>
          </a:prstGeom>
        </p:spPr>
      </p:pic>
      <p:sp>
        <p:nvSpPr>
          <p:cNvPr id="81" name="矩形 80"/>
          <p:cNvSpPr/>
          <p:nvPr/>
        </p:nvSpPr>
        <p:spPr>
          <a:xfrm>
            <a:off x="0" y="0"/>
            <a:ext cx="12192000" cy="731711"/>
          </a:xfrm>
          <a:prstGeom prst="rect">
            <a:avLst/>
          </a:prstGeom>
          <a:solidFill>
            <a:srgbClr val="AE0C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3689206" y="-12602"/>
            <a:ext cx="1620000" cy="74451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研究意义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8545195" y="-12700"/>
            <a:ext cx="1621155" cy="73787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成果展示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0158743" y="-12603"/>
            <a:ext cx="1589951" cy="74451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结语致谢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074" t="14426" b="13696"/>
          <a:stretch>
            <a:fillRect/>
          </a:stretch>
        </p:blipFill>
        <p:spPr>
          <a:xfrm>
            <a:off x="21630" y="146241"/>
            <a:ext cx="1890395" cy="45783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924115" y="-12793"/>
            <a:ext cx="1619885" cy="738411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研究内容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068051" y="-12602"/>
            <a:ext cx="1620000" cy="74451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选题背景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306060" y="-12700"/>
            <a:ext cx="1621155" cy="802640"/>
          </a:xfrm>
          <a:prstGeom prst="rect">
            <a:avLst/>
          </a:prstGeom>
          <a:solidFill>
            <a:srgbClr val="A62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工作流</a:t>
            </a:r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展示</a:t>
            </a:r>
            <a:endParaRPr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2" name="图片 1" descr="流程图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4310" y="1122045"/>
            <a:ext cx="9304655" cy="507873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842000" y="4250690"/>
            <a:ext cx="730250" cy="406400"/>
          </a:xfrm>
          <a:prstGeom prst="rect">
            <a:avLst/>
          </a:prstGeom>
          <a:solidFill>
            <a:srgbClr val="EDF9EB"/>
          </a:solidFill>
          <a:ln>
            <a:solidFill>
              <a:srgbClr val="EBF8E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984750" y="5336540"/>
            <a:ext cx="812800" cy="488950"/>
          </a:xfrm>
          <a:prstGeom prst="rect">
            <a:avLst/>
          </a:prstGeom>
          <a:solidFill>
            <a:srgbClr val="EDF9EB"/>
          </a:solidFill>
          <a:ln>
            <a:solidFill>
              <a:srgbClr val="EBF8E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11750" y="5184140"/>
            <a:ext cx="1758950" cy="673100"/>
          </a:xfrm>
          <a:prstGeom prst="rect">
            <a:avLst/>
          </a:prstGeom>
          <a:solidFill>
            <a:srgbClr val="EDF9EB"/>
          </a:solidFill>
          <a:ln>
            <a:solidFill>
              <a:srgbClr val="EBF8E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8400" y="5377180"/>
            <a:ext cx="1898650" cy="480695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5259070" y="5228590"/>
            <a:ext cx="1530350" cy="336550"/>
          </a:xfrm>
          <a:prstGeom prst="rect">
            <a:avLst/>
          </a:prstGeom>
          <a:solidFill>
            <a:srgbClr val="EDF9EB"/>
          </a:solidFill>
          <a:ln>
            <a:solidFill>
              <a:srgbClr val="EBF8E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en-US" altLang="zh-CN" sz="1000" b="1">
                <a:solidFill>
                  <a:schemeClr val="tx1"/>
                </a:solidFill>
              </a:rPr>
              <a:t>Assistant turns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957945" y="4214495"/>
            <a:ext cx="1727200" cy="1922145"/>
          </a:xfrm>
          <a:prstGeom prst="rect">
            <a:avLst/>
          </a:prstGeom>
          <a:solidFill>
            <a:srgbClr val="DCECEC"/>
          </a:solidFill>
          <a:ln>
            <a:solidFill>
              <a:srgbClr val="DCEC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流程图: 可选过程 16"/>
          <p:cNvSpPr/>
          <p:nvPr/>
        </p:nvSpPr>
        <p:spPr>
          <a:xfrm>
            <a:off x="9001125" y="4341495"/>
            <a:ext cx="1643380" cy="1786890"/>
          </a:xfrm>
          <a:prstGeom prst="flowChartAlternateProcess">
            <a:avLst/>
          </a:prstGeom>
          <a:solidFill>
            <a:srgbClr val="D5E9F2"/>
          </a:solidFill>
          <a:ln>
            <a:solidFill>
              <a:srgbClr val="215B6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10000"/>
              </a:lnSpc>
            </a:pPr>
            <a:r>
              <a:rPr lang="en-US" altLang="zh-CN" sz="1200" b="1">
                <a:solidFill>
                  <a:schemeClr val="tx1"/>
                </a:solidFill>
              </a:rPr>
              <a:t>{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l">
              <a:lnSpc>
                <a:spcPct val="110000"/>
              </a:lnSpc>
            </a:pPr>
            <a:r>
              <a:rPr lang="en-US" altLang="zh-CN" sz="1200" b="1">
                <a:solidFill>
                  <a:schemeClr val="tx1"/>
                </a:solidFill>
              </a:rPr>
              <a:t>  “schema_version”:1,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l">
              <a:lnSpc>
                <a:spcPct val="110000"/>
              </a:lnSpc>
            </a:pPr>
            <a:r>
              <a:rPr lang="en-US" altLang="zh-CN" sz="1200" b="1">
                <a:solidFill>
                  <a:schemeClr val="tx1"/>
                </a:solidFill>
              </a:rPr>
              <a:t>  “sop_id”:”sopnix”,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l">
              <a:lnSpc>
                <a:spcPct val="110000"/>
              </a:lnSpc>
            </a:pPr>
            <a:r>
              <a:rPr lang="en-US" altLang="zh-CN" sz="1200" b="1">
                <a:solidFill>
                  <a:schemeClr val="tx1"/>
                </a:solidFill>
              </a:rPr>
              <a:t>  “profile”:”profile”,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l">
              <a:lnSpc>
                <a:spcPct val="110000"/>
              </a:lnSpc>
            </a:pPr>
            <a:r>
              <a:rPr lang="en-US" altLang="zh-CN" sz="1200" b="1">
                <a:solidFill>
                  <a:schemeClr val="tx1"/>
                </a:solidFill>
              </a:rPr>
              <a:t>  “dialog”:{</a:t>
            </a:r>
            <a:br>
              <a:rPr lang="en-US" altLang="zh-CN" sz="1200" b="1">
                <a:solidFill>
                  <a:schemeClr val="tx1"/>
                </a:solidFill>
              </a:rPr>
            </a:br>
            <a:r>
              <a:rPr lang="en-US" altLang="zh-CN" sz="1200" b="1">
                <a:solidFill>
                  <a:schemeClr val="tx1"/>
                </a:solidFill>
              </a:rPr>
              <a:t>      “user”</a:t>
            </a:r>
            <a:r>
              <a:rPr lang="zh-CN" altLang="en-US" sz="1200" b="1">
                <a:solidFill>
                  <a:schemeClr val="tx1"/>
                </a:solidFill>
              </a:rPr>
              <a:t>：</a:t>
            </a:r>
            <a:r>
              <a:rPr lang="en-US" altLang="zh-CN" sz="1200" b="1">
                <a:solidFill>
                  <a:schemeClr val="tx1"/>
                </a:solidFill>
              </a:rPr>
              <a:t>“.....”</a:t>
            </a:r>
            <a:r>
              <a:rPr lang="zh-CN" altLang="en-US" sz="1200" b="1">
                <a:solidFill>
                  <a:schemeClr val="tx1"/>
                </a:solidFill>
              </a:rPr>
              <a:t>，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l">
              <a:lnSpc>
                <a:spcPct val="110000"/>
              </a:lnSpc>
            </a:pPr>
            <a:r>
              <a:rPr lang="en-US" altLang="zh-CN" sz="1200" b="1">
                <a:solidFill>
                  <a:schemeClr val="tx1"/>
                </a:solidFill>
              </a:rPr>
              <a:t>      “assistant”</a:t>
            </a:r>
            <a:r>
              <a:rPr lang="zh-CN" altLang="en-US" sz="1200" b="1">
                <a:solidFill>
                  <a:schemeClr val="tx1"/>
                </a:solidFill>
              </a:rPr>
              <a:t>：</a:t>
            </a:r>
            <a:r>
              <a:rPr lang="en-US" altLang="zh-CN" sz="1200" b="1">
                <a:solidFill>
                  <a:schemeClr val="tx1"/>
                </a:solidFill>
              </a:rPr>
              <a:t>“....”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l">
              <a:lnSpc>
                <a:spcPct val="110000"/>
              </a:lnSpc>
            </a:pPr>
            <a:r>
              <a:rPr lang="en-US" altLang="zh-CN" sz="1200" b="1">
                <a:solidFill>
                  <a:schemeClr val="tx1"/>
                </a:solidFill>
              </a:rPr>
              <a:t>}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020560" y="5871845"/>
            <a:ext cx="386080" cy="132080"/>
          </a:xfrm>
          <a:prstGeom prst="rect">
            <a:avLst/>
          </a:prstGeom>
          <a:solidFill>
            <a:srgbClr val="CFE9C6"/>
          </a:solidFill>
          <a:ln>
            <a:solidFill>
              <a:srgbClr val="CFE9C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4864100" y="5361940"/>
            <a:ext cx="533400" cy="107950"/>
          </a:xfrm>
          <a:prstGeom prst="rect">
            <a:avLst/>
          </a:prstGeom>
          <a:solidFill>
            <a:srgbClr val="EBF8E7"/>
          </a:solidFill>
          <a:ln>
            <a:solidFill>
              <a:srgbClr val="EBF8E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4888230" y="5438140"/>
            <a:ext cx="165100" cy="139700"/>
          </a:xfrm>
          <a:prstGeom prst="rect">
            <a:avLst/>
          </a:prstGeom>
          <a:solidFill>
            <a:srgbClr val="EBF8E7"/>
          </a:solidFill>
          <a:ln>
            <a:solidFill>
              <a:srgbClr val="EBF8E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2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bldLvl="0" animBg="1"/>
      <p:bldP spid="84" grpId="0" bldLvl="0" animBg="1"/>
      <p:bldP spid="87" grpId="0" bldLvl="0" animBg="1"/>
      <p:bldP spid="88" grpId="0" bldLvl="0" animBg="1"/>
      <p:bldP spid="6" grpId="0" bldLvl="0" animBg="1"/>
      <p:bldP spid="7" grpId="0" bldLvl="0" animBg="1"/>
      <p:bldP spid="8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27"/>
          <p:cNvSpPr txBox="1"/>
          <p:nvPr/>
        </p:nvSpPr>
        <p:spPr>
          <a:xfrm>
            <a:off x="1614208" y="1820412"/>
            <a:ext cx="8896371" cy="10509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990100"/>
            </a:solidFill>
          </a:ln>
        </p:spPr>
        <p:txBody>
          <a:bodyPr wrap="square" lIns="91440" tIns="45720" rIns="91440" bIns="45720" rtlCol="0">
            <a:spAutoFit/>
          </a:bodyPr>
          <a:lstStyle/>
          <a:p>
            <a:pPr marL="0" marR="0" lvl="0" indent="72009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甘蔗病虫害诊断、栽培管理涉及大量具体药剂、剂量、生育期和地域条件，模型如果仅凭通用语料推测，极易产生“看似合理但实际错误”的建议，这种幻觉在农业领域可能导致减产甚至绝收。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1193165" y="1395730"/>
            <a:ext cx="3097530" cy="424815"/>
          </a:xfrm>
          <a:prstGeom prst="rect">
            <a:avLst/>
          </a:prstGeom>
          <a:solidFill>
            <a:srgbClr val="9901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农业知识容错空间小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文本框 15"/>
          <p:cNvSpPr txBox="1"/>
          <p:nvPr/>
        </p:nvSpPr>
        <p:spPr>
          <a:xfrm>
            <a:off x="1614208" y="3469603"/>
            <a:ext cx="8896371" cy="10509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990100"/>
            </a:solidFill>
          </a:ln>
        </p:spPr>
        <p:txBody>
          <a:bodyPr wrap="square" lIns="91440" tIns="45720" rIns="91440" bIns="45720" rtlCol="0">
            <a:spAutoFit/>
          </a:bodyPr>
          <a:lstStyle/>
          <a:p>
            <a:pPr marL="0" marR="0" lvl="0" indent="72009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SOP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本身是专业性较强的操作程序文档，包含严格的诊断条件、处理步骤和安全边界。但原始文本以非结构化的段落呈现，层级混乱、条件分支隐式存在，缺乏可执行的知识表示，无法直接被模型用于可执行的决策推理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1193165" y="3044825"/>
            <a:ext cx="2233930" cy="424815"/>
          </a:xfrm>
          <a:prstGeom prst="rect">
            <a:avLst/>
          </a:prstGeom>
          <a:solidFill>
            <a:srgbClr val="9901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SOP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专业性强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文本框 24"/>
          <p:cNvSpPr txBox="1"/>
          <p:nvPr/>
        </p:nvSpPr>
        <p:spPr>
          <a:xfrm>
            <a:off x="1614208" y="5118682"/>
            <a:ext cx="8896371" cy="10509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990100"/>
            </a:solidFill>
          </a:ln>
        </p:spPr>
        <p:txBody>
          <a:bodyPr wrap="square" lIns="91440" tIns="45720" rIns="91440" bIns="45720" rtlCol="0">
            <a:spAutoFit/>
          </a:bodyPr>
          <a:lstStyle/>
          <a:p>
            <a:pPr marL="0" marR="0" lvl="0" indent="72009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后续我们要生成多轮农业咨询对话，农户的问题千变万化，但专家的回答必须时刻受真实规程约束。只有先把文档转化为结构化的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SOP——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包含诊断标准、条件响应矩阵和追问策略——才能从源头上限制模型幻觉，保证每一句建议都能追溯到具体规程条目，增加真实性。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1193083" y="4694208"/>
            <a:ext cx="1929741" cy="424633"/>
          </a:xfrm>
          <a:prstGeom prst="rect">
            <a:avLst/>
          </a:prstGeom>
          <a:solidFill>
            <a:srgbClr val="9901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有知识依据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414573" y="757824"/>
            <a:ext cx="1705610" cy="551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Calibri" panose="020F0502020204030204" pitchFamily="34" charset="0"/>
              </a:rPr>
              <a:t>提取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Calibri" panose="020F0502020204030204" pitchFamily="34" charset="0"/>
              </a:rPr>
              <a:t>SOP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15" name="等腰三角形 14"/>
          <p:cNvSpPr>
            <a:spLocks noChangeArrowheads="1"/>
          </p:cNvSpPr>
          <p:nvPr/>
        </p:nvSpPr>
        <p:spPr bwMode="auto">
          <a:xfrm rot="5400000">
            <a:off x="-97790" y="842010"/>
            <a:ext cx="610235" cy="414655"/>
          </a:xfrm>
          <a:prstGeom prst="triangle">
            <a:avLst>
              <a:gd name="adj" fmla="val 50000"/>
            </a:avLst>
          </a:prstGeom>
          <a:solidFill>
            <a:srgbClr val="990100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65" y="6301220"/>
            <a:ext cx="1523493" cy="400109"/>
          </a:xfrm>
          <a:prstGeom prst="rect">
            <a:avLst/>
          </a:prstGeom>
        </p:spPr>
      </p:pic>
      <p:sp>
        <p:nvSpPr>
          <p:cNvPr id="81" name="矩形 80"/>
          <p:cNvSpPr/>
          <p:nvPr/>
        </p:nvSpPr>
        <p:spPr>
          <a:xfrm>
            <a:off x="0" y="0"/>
            <a:ext cx="12192000" cy="731711"/>
          </a:xfrm>
          <a:prstGeom prst="rect">
            <a:avLst/>
          </a:prstGeom>
          <a:solidFill>
            <a:srgbClr val="AE0C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3689206" y="-12602"/>
            <a:ext cx="1620000" cy="74451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研究意义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0158743" y="-12603"/>
            <a:ext cx="1589951" cy="74451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结语致谢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074" t="14426" b="13696"/>
          <a:stretch>
            <a:fillRect/>
          </a:stretch>
        </p:blipFill>
        <p:spPr>
          <a:xfrm>
            <a:off x="21630" y="146241"/>
            <a:ext cx="1890395" cy="45783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8545195" y="-12700"/>
            <a:ext cx="1621155" cy="74549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成果展示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68051" y="-12602"/>
            <a:ext cx="1620000" cy="74451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选题背景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306770" y="-5808"/>
            <a:ext cx="1619885" cy="738411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工作流展示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23405" y="-5715"/>
            <a:ext cx="1621155" cy="802640"/>
          </a:xfrm>
          <a:prstGeom prst="rect">
            <a:avLst/>
          </a:prstGeom>
          <a:solidFill>
            <a:srgbClr val="A62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研究内容</a:t>
            </a:r>
            <a:endParaRPr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2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bldLvl="0" animBg="1"/>
      <p:bldP spid="84" grpId="0" bldLvl="0" animBg="1"/>
      <p:bldP spid="88" grpId="0" bldLvl="0" animBg="1"/>
      <p:bldP spid="2" grpId="0" bldLvl="0" animBg="1"/>
      <p:bldP spid="3" grpId="0" bldLvl="0" animBg="1"/>
      <p:bldP spid="4" grpId="0" bldLvl="0" animBg="1"/>
      <p:bldP spid="5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-1"/>
            <a:ext cx="12192000" cy="718985"/>
          </a:xfrm>
          <a:prstGeom prst="rect">
            <a:avLst/>
          </a:prstGeom>
          <a:solidFill>
            <a:srgbClr val="9D0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6839665"/>
            <a:ext cx="12192000" cy="45719"/>
          </a:xfrm>
          <a:prstGeom prst="rect">
            <a:avLst/>
          </a:prstGeom>
          <a:solidFill>
            <a:srgbClr val="9D0B0B"/>
          </a:solidFill>
          <a:ln>
            <a:solidFill>
              <a:srgbClr val="9D0B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83432" y="128658"/>
            <a:ext cx="244827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1"/>
            </p:custDataLst>
          </p:nvPr>
        </p:nvCxnSpPr>
        <p:spPr>
          <a:xfrm flipH="1">
            <a:off x="1012903" y="3153353"/>
            <a:ext cx="6229503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</p:cxnSp>
      <p:cxnSp>
        <p:nvCxnSpPr>
          <p:cNvPr id="14" name="直接连接符 13"/>
          <p:cNvCxnSpPr/>
          <p:nvPr>
            <p:custDataLst>
              <p:tags r:id="rId2"/>
            </p:custDataLst>
          </p:nvPr>
        </p:nvCxnSpPr>
        <p:spPr>
          <a:xfrm flipH="1">
            <a:off x="1012903" y="3393742"/>
            <a:ext cx="6229503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</p:cxnSp>
      <p:sp>
        <p:nvSpPr>
          <p:cNvPr id="15" name="TextBox 13"/>
          <p:cNvSpPr txBox="1"/>
          <p:nvPr>
            <p:custDataLst>
              <p:tags r:id="rId3"/>
            </p:custDataLst>
          </p:nvPr>
        </p:nvSpPr>
        <p:spPr>
          <a:xfrm flipH="1">
            <a:off x="1015444" y="1515898"/>
            <a:ext cx="2787269" cy="438785"/>
          </a:xfrm>
          <a:prstGeom prst="rect">
            <a:avLst/>
          </a:prstGeom>
          <a:noFill/>
          <a:ln>
            <a:noFill/>
          </a:ln>
        </p:spPr>
        <p:txBody>
          <a:bodyPr wrap="square" lIns="91435" tIns="45717" rIns="91435" bIns="45717">
            <a:spAutoFit/>
          </a:bodyPr>
          <a:lstStyle>
            <a:defPPr>
              <a:defRPr lang="zh-CN"/>
            </a:defPPr>
            <a:lvl1pPr algn="ctr" eaLnBrk="0" hangingPunct="0">
              <a:defRPr sz="22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742950" indent="-28575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65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规则分割</a:t>
            </a:r>
            <a:endParaRPr kumimoji="0" lang="zh-CN" altLang="en-US" sz="2265" b="1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4"/>
          <p:cNvSpPr txBox="1"/>
          <p:nvPr>
            <p:custDataLst>
              <p:tags r:id="rId4"/>
            </p:custDataLst>
          </p:nvPr>
        </p:nvSpPr>
        <p:spPr>
          <a:xfrm>
            <a:off x="1014730" y="2028825"/>
            <a:ext cx="5974715" cy="97218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defTabSz="914400">
              <a:lnSpc>
                <a:spcPct val="130000"/>
              </a:lnSpc>
            </a:pPr>
            <a:r>
              <a:rPr lang="zh-CN" altLang="en-US" sz="1465" dirty="0">
                <a:solidFill>
                  <a:srgbClr val="151515">
                    <a:lumMod val="75000"/>
                    <a:lumOff val="25000"/>
                  </a:srgbClr>
                </a:solidFill>
                <a:latin typeface="微软雅黑" panose="020B0503020204020204" charset="-122"/>
              </a:rPr>
              <a:t>针对不同文档的章节结构（比如病虫害按病名切分，操作规程按数字编号切分），编写了各自的正则规则，将长文本拆成一个一个独立的技术单元，并自动标记类型：病害、虫害、栽培管理还是灾害应对。</a:t>
            </a:r>
            <a:endParaRPr lang="zh-CN" altLang="en-US" sz="1465" dirty="0">
              <a:solidFill>
                <a:srgbClr val="151515">
                  <a:lumMod val="75000"/>
                  <a:lumOff val="25000"/>
                </a:srgbClr>
              </a:solidFill>
              <a:latin typeface="微软雅黑" panose="020B0503020204020204" charset="-122"/>
            </a:endParaRPr>
          </a:p>
        </p:txBody>
      </p:sp>
      <p:sp>
        <p:nvSpPr>
          <p:cNvPr id="17" name="TextBox 15"/>
          <p:cNvSpPr txBox="1"/>
          <p:nvPr>
            <p:custDataLst>
              <p:tags r:id="rId5"/>
            </p:custDataLst>
          </p:nvPr>
        </p:nvSpPr>
        <p:spPr>
          <a:xfrm flipH="1">
            <a:off x="1014809" y="3457145"/>
            <a:ext cx="2787269" cy="438785"/>
          </a:xfrm>
          <a:prstGeom prst="rect">
            <a:avLst/>
          </a:prstGeom>
          <a:noFill/>
          <a:ln>
            <a:noFill/>
          </a:ln>
        </p:spPr>
        <p:txBody>
          <a:bodyPr wrap="square" lIns="91435" tIns="45717" rIns="91435" bIns="45717">
            <a:spAutoFit/>
          </a:bodyPr>
          <a:lstStyle>
            <a:defPPr>
              <a:defRPr lang="zh-CN"/>
            </a:defPPr>
            <a:lvl1pPr eaLnBrk="0" hangingPunct="0">
              <a:defRPr sz="22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742950" indent="-28575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65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结构化抽取</a:t>
            </a:r>
            <a:endParaRPr kumimoji="0" lang="zh-CN" altLang="en-US" sz="2265" b="1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6"/>
          <p:cNvSpPr txBox="1"/>
          <p:nvPr>
            <p:custDataLst>
              <p:tags r:id="rId6"/>
            </p:custDataLst>
          </p:nvPr>
        </p:nvSpPr>
        <p:spPr>
          <a:xfrm>
            <a:off x="1014095" y="3875405"/>
            <a:ext cx="6343015" cy="126555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defTabSz="914400">
              <a:lnSpc>
                <a:spcPct val="130000"/>
              </a:lnSpc>
            </a:pPr>
            <a:r>
              <a:rPr lang="zh-CN" altLang="en-US" sz="1465">
                <a:solidFill>
                  <a:srgbClr val="151515">
                    <a:lumMod val="75000"/>
                    <a:lumOff val="25000"/>
                  </a:srgbClr>
                </a:solidFill>
                <a:latin typeface="微软雅黑" panose="020B0503020204020204" charset="-122"/>
              </a:rPr>
              <a:t>为每个技术单元构造包含严格 </a:t>
            </a:r>
            <a:r>
              <a:rPr lang="en-US" altLang="zh-CN" sz="1465">
                <a:solidFill>
                  <a:srgbClr val="151515">
                    <a:lumMod val="75000"/>
                    <a:lumOff val="25000"/>
                  </a:srgbClr>
                </a:solidFill>
                <a:latin typeface="微软雅黑" panose="020B0503020204020204" charset="-122"/>
              </a:rPr>
              <a:t>JSON Schema </a:t>
            </a:r>
            <a:r>
              <a:rPr lang="zh-CN" altLang="en-US" sz="1465">
                <a:solidFill>
                  <a:srgbClr val="151515">
                    <a:lumMod val="75000"/>
                    <a:lumOff val="25000"/>
                  </a:srgbClr>
                </a:solidFill>
                <a:latin typeface="微软雅黑" panose="020B0503020204020204" charset="-122"/>
              </a:rPr>
              <a:t>的提示词，要求模型按照“元信息—诊断标准—缺失信息策略—响应方案矩阵”四段结构输出，强制生成 2~3 个典型条件分支，并约束模型不得添加 </a:t>
            </a:r>
            <a:r>
              <a:rPr lang="en-US" altLang="zh-CN" sz="1465">
                <a:solidFill>
                  <a:srgbClr val="151515">
                    <a:lumMod val="75000"/>
                    <a:lumOff val="25000"/>
                  </a:srgbClr>
                </a:solidFill>
                <a:latin typeface="微软雅黑" panose="020B0503020204020204" charset="-122"/>
              </a:rPr>
              <a:t>SOP </a:t>
            </a:r>
            <a:r>
              <a:rPr lang="zh-CN" altLang="en-US" sz="1465">
                <a:solidFill>
                  <a:srgbClr val="151515">
                    <a:lumMod val="75000"/>
                    <a:lumOff val="25000"/>
                  </a:srgbClr>
                </a:solidFill>
                <a:latin typeface="微软雅黑" panose="020B0503020204020204" charset="-122"/>
              </a:rPr>
              <a:t>之外的药剂、剂量或地域适用性，确保输出的知识在规程边界内。</a:t>
            </a:r>
            <a:endParaRPr lang="zh-CN" altLang="en-US" sz="1465">
              <a:solidFill>
                <a:srgbClr val="151515">
                  <a:lumMod val="75000"/>
                  <a:lumOff val="25000"/>
                </a:srgbClr>
              </a:solidFill>
              <a:latin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>
            <p:custDataLst>
              <p:tags r:id="rId7"/>
            </p:custDataLst>
          </p:nvPr>
        </p:nvCxnSpPr>
        <p:spPr>
          <a:xfrm flipH="1">
            <a:off x="1012903" y="5211112"/>
            <a:ext cx="6229503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</p:cxnSp>
      <p:cxnSp>
        <p:nvCxnSpPr>
          <p:cNvPr id="12" name="直接连接符 11"/>
          <p:cNvCxnSpPr/>
          <p:nvPr>
            <p:custDataLst>
              <p:tags r:id="rId8"/>
            </p:custDataLst>
          </p:nvPr>
        </p:nvCxnSpPr>
        <p:spPr>
          <a:xfrm flipH="1">
            <a:off x="1012903" y="5398437"/>
            <a:ext cx="6229503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</p:cxnSp>
      <p:sp>
        <p:nvSpPr>
          <p:cNvPr id="23" name="TextBox 15"/>
          <p:cNvSpPr txBox="1"/>
          <p:nvPr>
            <p:custDataLst>
              <p:tags r:id="rId9"/>
            </p:custDataLst>
          </p:nvPr>
        </p:nvSpPr>
        <p:spPr>
          <a:xfrm flipH="1">
            <a:off x="1014174" y="5478985"/>
            <a:ext cx="2787269" cy="438785"/>
          </a:xfrm>
          <a:prstGeom prst="rect">
            <a:avLst/>
          </a:prstGeom>
          <a:noFill/>
          <a:ln>
            <a:noFill/>
          </a:ln>
        </p:spPr>
        <p:txBody>
          <a:bodyPr wrap="square" lIns="91435" tIns="45717" rIns="91435" bIns="45717">
            <a:spAutoFit/>
          </a:bodyPr>
          <a:lstStyle>
            <a:defPPr>
              <a:defRPr lang="zh-CN"/>
            </a:defPPr>
            <a:lvl1pPr eaLnBrk="0" hangingPunct="0">
              <a:defRPr sz="220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742950" indent="-28575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65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容错</a:t>
            </a:r>
            <a:endParaRPr kumimoji="0" lang="zh-CN" altLang="en-US" sz="2265" b="1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16"/>
          <p:cNvSpPr txBox="1"/>
          <p:nvPr>
            <p:custDataLst>
              <p:tags r:id="rId10"/>
            </p:custDataLst>
          </p:nvPr>
        </p:nvSpPr>
        <p:spPr>
          <a:xfrm>
            <a:off x="1014095" y="5862955"/>
            <a:ext cx="6343015" cy="67818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defTabSz="914400">
              <a:lnSpc>
                <a:spcPct val="130000"/>
              </a:lnSpc>
            </a:pPr>
            <a:r>
              <a:rPr lang="zh-CN" altLang="en-US" sz="1465">
                <a:solidFill>
                  <a:srgbClr val="151515">
                    <a:lumMod val="75000"/>
                    <a:lumOff val="25000"/>
                  </a:srgbClr>
                </a:solidFill>
                <a:latin typeface="微软雅黑" panose="020B0503020204020204" charset="-122"/>
              </a:rPr>
              <a:t>对模型返回的文本进行代码块清洗、尾随逗号移除等修复操作，确保 </a:t>
            </a:r>
            <a:r>
              <a:rPr lang="en-US" altLang="zh-CN" sz="1465">
                <a:solidFill>
                  <a:srgbClr val="151515">
                    <a:lumMod val="75000"/>
                    <a:lumOff val="25000"/>
                  </a:srgbClr>
                </a:solidFill>
                <a:latin typeface="微软雅黑" panose="020B0503020204020204" charset="-122"/>
              </a:rPr>
              <a:t>JSON </a:t>
            </a:r>
            <a:r>
              <a:rPr lang="zh-CN" altLang="en-US" sz="1465">
                <a:solidFill>
                  <a:srgbClr val="151515">
                    <a:lumMod val="75000"/>
                    <a:lumOff val="25000"/>
                  </a:srgbClr>
                </a:solidFill>
                <a:latin typeface="微软雅黑" panose="020B0503020204020204" charset="-122"/>
              </a:rPr>
              <a:t>可被稳定解析。</a:t>
            </a:r>
            <a:endParaRPr lang="zh-CN" altLang="en-US" sz="1465">
              <a:solidFill>
                <a:srgbClr val="151515">
                  <a:lumMod val="75000"/>
                  <a:lumOff val="25000"/>
                </a:srgbClr>
              </a:solidFill>
              <a:latin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42175" y="798195"/>
            <a:ext cx="3305175" cy="145097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23275" y="2237105"/>
            <a:ext cx="3058795" cy="161353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40625" y="3810000"/>
            <a:ext cx="2254250" cy="153035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76005" y="5221605"/>
            <a:ext cx="2552700" cy="1663700"/>
          </a:xfrm>
          <a:prstGeom prst="rect">
            <a:avLst/>
          </a:prstGeom>
        </p:spPr>
      </p:pic>
      <p:sp>
        <p:nvSpPr>
          <p:cNvPr id="84" name="矩形 83"/>
          <p:cNvSpPr/>
          <p:nvPr/>
        </p:nvSpPr>
        <p:spPr>
          <a:xfrm>
            <a:off x="3689206" y="-12602"/>
            <a:ext cx="1620000" cy="74451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研究意义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0158743" y="-12603"/>
            <a:ext cx="1589951" cy="74451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结语致谢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2" name="等腰三角形 1"/>
          <p:cNvSpPr>
            <a:spLocks noChangeArrowheads="1"/>
          </p:cNvSpPr>
          <p:nvPr/>
        </p:nvSpPr>
        <p:spPr bwMode="auto">
          <a:xfrm rot="5400000">
            <a:off x="-97790" y="842010"/>
            <a:ext cx="610235" cy="414655"/>
          </a:xfrm>
          <a:prstGeom prst="triangle">
            <a:avLst>
              <a:gd name="adj" fmla="val 50000"/>
            </a:avLst>
          </a:prstGeom>
          <a:solidFill>
            <a:srgbClr val="990100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414573" y="757824"/>
            <a:ext cx="1705610" cy="551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Calibri" panose="020F0502020204030204" pitchFamily="34" charset="0"/>
              </a:rPr>
              <a:t>提取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Calibri" panose="020F0502020204030204" pitchFamily="34" charset="0"/>
              </a:rPr>
              <a:t>SOP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545195" y="-12700"/>
            <a:ext cx="1621155" cy="74549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成果展示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068051" y="-12602"/>
            <a:ext cx="1620000" cy="74451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选题背景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306770" y="-5808"/>
            <a:ext cx="1619885" cy="738411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工作流展示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923405" y="-5715"/>
            <a:ext cx="1621155" cy="802640"/>
          </a:xfrm>
          <a:prstGeom prst="rect">
            <a:avLst/>
          </a:prstGeom>
          <a:solidFill>
            <a:srgbClr val="A62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研究内容</a:t>
            </a:r>
            <a:endParaRPr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 rotWithShape="1"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074" t="14426" b="13696"/>
          <a:stretch>
            <a:fillRect/>
          </a:stretch>
        </p:blipFill>
        <p:spPr>
          <a:xfrm>
            <a:off x="21630" y="146241"/>
            <a:ext cx="1890395" cy="4578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bldLvl="0" animBg="1"/>
      <p:bldP spid="88" grpId="0" bldLvl="0" animBg="1"/>
      <p:bldP spid="9" grpId="0" bldLvl="0" animBg="1"/>
      <p:bldP spid="19" grpId="0" bldLvl="0" animBg="1"/>
      <p:bldP spid="24" grpId="0" bldLvl="0" animBg="1"/>
      <p:bldP spid="30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81" name="矩形 80"/>
          <p:cNvSpPr/>
          <p:nvPr/>
        </p:nvSpPr>
        <p:spPr>
          <a:xfrm>
            <a:off x="0" y="0"/>
            <a:ext cx="12192000" cy="731711"/>
          </a:xfrm>
          <a:prstGeom prst="rect">
            <a:avLst/>
          </a:prstGeom>
          <a:solidFill>
            <a:srgbClr val="A62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3689206" y="-12602"/>
            <a:ext cx="1620000" cy="74451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研究意义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0158743" y="-12603"/>
            <a:ext cx="1589951" cy="74451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结语致谢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8545195" y="-12700"/>
            <a:ext cx="1621155" cy="74549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成果展示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68051" y="-12602"/>
            <a:ext cx="1620000" cy="74451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选题背景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06770" y="-5808"/>
            <a:ext cx="1619885" cy="738411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工作流展示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923405" y="-5715"/>
            <a:ext cx="1621155" cy="802640"/>
          </a:xfrm>
          <a:prstGeom prst="rect">
            <a:avLst/>
          </a:prstGeom>
          <a:solidFill>
            <a:srgbClr val="A62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研究内容</a:t>
            </a:r>
            <a:endParaRPr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074" t="14426" b="13696"/>
          <a:stretch>
            <a:fillRect/>
          </a:stretch>
        </p:blipFill>
        <p:spPr>
          <a:xfrm>
            <a:off x="21630" y="146241"/>
            <a:ext cx="1890395" cy="457835"/>
          </a:xfrm>
          <a:prstGeom prst="rect">
            <a:avLst/>
          </a:prstGeom>
        </p:spPr>
      </p:pic>
      <p:sp>
        <p:nvSpPr>
          <p:cNvPr id="7" name="等腰三角形 6"/>
          <p:cNvSpPr>
            <a:spLocks noChangeArrowheads="1"/>
          </p:cNvSpPr>
          <p:nvPr/>
        </p:nvSpPr>
        <p:spPr bwMode="auto">
          <a:xfrm rot="5400000">
            <a:off x="-97790" y="842010"/>
            <a:ext cx="610235" cy="414655"/>
          </a:xfrm>
          <a:prstGeom prst="triangle">
            <a:avLst>
              <a:gd name="adj" fmla="val 50000"/>
            </a:avLst>
          </a:prstGeom>
          <a:solidFill>
            <a:srgbClr val="990100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414573" y="797194"/>
            <a:ext cx="6677025" cy="489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9" rIns="121917" bIns="6095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Calibri" panose="020F0502020204030204" pitchFamily="34" charset="0"/>
              </a:rPr>
              <a:t>有关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Calibri" panose="020F0502020204030204" pitchFamily="34" charset="0"/>
              </a:rPr>
              <a:t>MIRAGE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Calibri" panose="020F0502020204030204" pitchFamily="34" charset="0"/>
              </a:rPr>
              <a:t>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Calibri" panose="020F0502020204030204" pitchFamily="34" charset="0"/>
              </a:rPr>
              <a:t>MMMT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Calibri" panose="020F0502020204030204" pitchFamily="34" charset="0"/>
              </a:rPr>
              <a:t>子集农业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Calibri" panose="020F0502020204030204" pitchFamily="34" charset="0"/>
              </a:rPr>
              <a:t>多轮问答数据集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cs"/>
              <a:sym typeface="Calibri" panose="020F0502020204030204" pitchFamily="34" charset="0"/>
            </a:endParaRPr>
          </a:p>
        </p:txBody>
      </p:sp>
      <p:pic>
        <p:nvPicPr>
          <p:cNvPr id="9" name="图片 8" descr="ChatGPT Image 2026年6月15日 18_48_58"/>
          <p:cNvPicPr>
            <a:picLocks noChangeAspect="1"/>
          </p:cNvPicPr>
          <p:nvPr/>
        </p:nvPicPr>
        <p:blipFill>
          <a:blip r:embed="rId3"/>
          <a:srcRect t="15536" r="-13168" b="-11859"/>
          <a:stretch>
            <a:fillRect/>
          </a:stretch>
        </p:blipFill>
        <p:spPr>
          <a:xfrm>
            <a:off x="1374140" y="1286510"/>
            <a:ext cx="10801350" cy="6200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bldLvl="0" animBg="1"/>
      <p:bldP spid="84" grpId="0" bldLvl="0" animBg="1"/>
      <p:bldP spid="88" grpId="0" bldLvl="0" animBg="1"/>
      <p:bldP spid="87" grpId="0" bldLvl="0" animBg="1"/>
      <p:bldP spid="4" grpId="0" bldLvl="0" animBg="1"/>
      <p:bldP spid="5" grpId="0" bldLvl="0" animBg="1"/>
      <p:bldP spid="6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 descr="ChatGPT Image 2026年6月15日 17_26_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180" y="791845"/>
            <a:ext cx="9098915" cy="6066155"/>
          </a:xfrm>
          <a:prstGeom prst="rect">
            <a:avLst/>
          </a:prstGeom>
        </p:spPr>
      </p:pic>
      <p:sp>
        <p:nvSpPr>
          <p:cNvPr id="29" name="矩形 28"/>
          <p:cNvSpPr/>
          <p:nvPr/>
        </p:nvSpPr>
        <p:spPr>
          <a:xfrm>
            <a:off x="0" y="5714"/>
            <a:ext cx="12192000" cy="718985"/>
          </a:xfrm>
          <a:prstGeom prst="rect">
            <a:avLst/>
          </a:prstGeom>
          <a:solidFill>
            <a:srgbClr val="9D0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3689206" y="-12602"/>
            <a:ext cx="1620000" cy="74451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研究意义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0158743" y="-12603"/>
            <a:ext cx="1589951" cy="74451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结语致谢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545195" y="-12700"/>
            <a:ext cx="1621155" cy="74549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成果展示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068051" y="-12602"/>
            <a:ext cx="1620000" cy="74451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选题背景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306770" y="-5808"/>
            <a:ext cx="1619885" cy="738411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工作流展示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923405" y="-5715"/>
            <a:ext cx="1621155" cy="802640"/>
          </a:xfrm>
          <a:prstGeom prst="rect">
            <a:avLst/>
          </a:prstGeom>
          <a:solidFill>
            <a:srgbClr val="A62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研究内容</a:t>
            </a:r>
            <a:endParaRPr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074" t="14426" b="13696"/>
          <a:stretch>
            <a:fillRect/>
          </a:stretch>
        </p:blipFill>
        <p:spPr>
          <a:xfrm>
            <a:off x="21630" y="146241"/>
            <a:ext cx="1890395" cy="457835"/>
          </a:xfrm>
          <a:prstGeom prst="rect">
            <a:avLst/>
          </a:prstGeom>
        </p:spPr>
      </p:pic>
      <p:sp>
        <p:nvSpPr>
          <p:cNvPr id="39" name="AutoShape 13"/>
          <p:cNvSpPr/>
          <p:nvPr/>
        </p:nvSpPr>
        <p:spPr>
          <a:xfrm>
            <a:off x="328295" y="2882265"/>
            <a:ext cx="1104265" cy="29197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专家角色：</a:t>
            </a:r>
            <a:endParaRPr lang="en-US" sz="1400" b="1" i="0" u="none" strike="noStrike">
              <a:solidFill>
                <a:srgbClr val="C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4种专业定位</a:t>
            </a:r>
            <a:endParaRPr lang="en-US" sz="1400" b="1" i="0" u="none" strike="noStrike">
              <a:solidFill>
                <a:srgbClr val="C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涵盖农技推广、植保、栽培管理及灾害应急四大核心领域，构建专业、严谨且适配不同场景的知识输出体系。</a:t>
            </a:r>
            <a:endParaRPr lang="en-US" sz="1200" b="0" i="0" u="none" strike="noStrike">
              <a:solidFill>
                <a:srgbClr val="374151"/>
              </a:solidFill>
              <a:latin typeface="黑体" panose="02010609060101010101" charset="-122"/>
              <a:ea typeface="黑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0" name="AutoShape 6"/>
          <p:cNvSpPr/>
          <p:nvPr/>
        </p:nvSpPr>
        <p:spPr>
          <a:xfrm>
            <a:off x="10800715" y="2834640"/>
            <a:ext cx="1201420" cy="32683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农户角色：</a:t>
            </a:r>
            <a:endParaRPr lang="en-US" sz="1400" b="1" i="0" u="none" strike="noStrike">
              <a:solidFill>
                <a:srgbClr val="C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6种典型画像</a:t>
            </a:r>
            <a:endParaRPr lang="en-US" sz="1800" b="1" i="0" u="none" strike="noStrike">
              <a:solidFill>
                <a:srgbClr val="C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en-US" sz="1100">
              <a:solidFill>
                <a:srgbClr val="C00000"/>
              </a:solidFill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覆盖从新手到经验型农户、合作社负责人及灾后恢复户等多样化群体，精准捕捉不同用户的知识储备与沟通习惯。</a:t>
            </a:r>
            <a:endParaRPr lang="en-US" sz="1200" b="0" i="0" u="none" strike="noStrike">
              <a:solidFill>
                <a:srgbClr val="374151"/>
              </a:solidFill>
              <a:latin typeface="黑体" panose="02010609060101010101" charset="-122"/>
              <a:ea typeface="黑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1" name="圆角右箭头 40"/>
          <p:cNvSpPr/>
          <p:nvPr/>
        </p:nvSpPr>
        <p:spPr>
          <a:xfrm rot="16200000">
            <a:off x="621030" y="5751195"/>
            <a:ext cx="692150" cy="717550"/>
          </a:xfrm>
          <a:prstGeom prst="bentArrow">
            <a:avLst/>
          </a:prstGeom>
          <a:solidFill>
            <a:srgbClr val="A62221"/>
          </a:solidFill>
          <a:ln>
            <a:solidFill>
              <a:srgbClr val="A6222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圆角右箭头 42"/>
          <p:cNvSpPr/>
          <p:nvPr/>
        </p:nvSpPr>
        <p:spPr>
          <a:xfrm rot="16200000" flipV="1">
            <a:off x="10810240" y="5754370"/>
            <a:ext cx="692150" cy="711200"/>
          </a:xfrm>
          <a:prstGeom prst="bentArrow">
            <a:avLst/>
          </a:prstGeom>
          <a:solidFill>
            <a:srgbClr val="A62221"/>
          </a:solidFill>
          <a:ln>
            <a:solidFill>
              <a:srgbClr val="A6222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等腰三角形 43"/>
          <p:cNvSpPr>
            <a:spLocks noChangeArrowheads="1"/>
          </p:cNvSpPr>
          <p:nvPr/>
        </p:nvSpPr>
        <p:spPr bwMode="auto">
          <a:xfrm rot="5400000">
            <a:off x="-45720" y="777875"/>
            <a:ext cx="476250" cy="385445"/>
          </a:xfrm>
          <a:prstGeom prst="triangle">
            <a:avLst>
              <a:gd name="adj" fmla="val 50000"/>
            </a:avLst>
          </a:prstGeom>
          <a:solidFill>
            <a:srgbClr val="990100"/>
          </a:solidFill>
          <a:ln>
            <a:noFill/>
          </a:ln>
        </p:spPr>
        <p:txBody>
          <a:bodyPr lIns="121917" tIns="60959" rIns="121917" bIns="6095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395605" y="732790"/>
            <a:ext cx="1016000" cy="4108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en-US" altLang="zh-CN" sz="1600" b="1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</a:rPr>
              <a:t>对话生成</a:t>
            </a:r>
            <a:endParaRPr lang="en-US" altLang="zh-CN" sz="1600" b="1" noProof="0" dirty="0" smtClean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bldLvl="0" animBg="1"/>
      <p:bldP spid="88" grpId="0" bldLvl="0" animBg="1"/>
      <p:bldP spid="33" grpId="0" bldLvl="0" animBg="1"/>
      <p:bldP spid="34" grpId="0" bldLvl="0" animBg="1"/>
      <p:bldP spid="35" grpId="0" bldLvl="0" animBg="1"/>
      <p:bldP spid="36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5714"/>
            <a:ext cx="12192000" cy="718985"/>
          </a:xfrm>
          <a:prstGeom prst="rect">
            <a:avLst/>
          </a:prstGeom>
          <a:solidFill>
            <a:srgbClr val="9D0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540000"/>
            <a:ext cx="222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556000" y="2540000"/>
            <a:ext cx="222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89000" y="4318000"/>
            <a:ext cx="222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3556000" y="4318000"/>
            <a:ext cx="222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477000" y="165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048500" y="2514600"/>
            <a:ext cx="177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30480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271000" y="30480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048500" y="4292600"/>
            <a:ext cx="177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604000" y="4762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715500" y="4292600"/>
            <a:ext cx="177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271000" y="4762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84" name="矩形 83"/>
          <p:cNvSpPr/>
          <p:nvPr/>
        </p:nvSpPr>
        <p:spPr>
          <a:xfrm>
            <a:off x="3689206" y="-12602"/>
            <a:ext cx="1620000" cy="74451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研究意义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0158743" y="-12603"/>
            <a:ext cx="1589951" cy="74451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结语致谢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926580" y="-5715"/>
            <a:ext cx="1621155" cy="74549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研究内容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68051" y="-12602"/>
            <a:ext cx="1620000" cy="74451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选题背景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306770" y="-5808"/>
            <a:ext cx="1619885" cy="738411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工作流展示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545195" y="-12700"/>
            <a:ext cx="1621155" cy="802640"/>
          </a:xfrm>
          <a:prstGeom prst="rect">
            <a:avLst/>
          </a:prstGeom>
          <a:solidFill>
            <a:srgbClr val="A62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成果展示</a:t>
            </a:r>
            <a:endParaRPr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074" t="14426" b="13696"/>
          <a:stretch>
            <a:fillRect/>
          </a:stretch>
        </p:blipFill>
        <p:spPr>
          <a:xfrm>
            <a:off x="21630" y="146241"/>
            <a:ext cx="1890395" cy="45783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595" y="899160"/>
            <a:ext cx="9824085" cy="58178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bldLvl="0" animBg="1"/>
      <p:bldP spid="88" grpId="0" bldLvl="0" animBg="1"/>
      <p:bldP spid="4" grpId="0" bldLvl="0" animBg="1"/>
      <p:bldP spid="6" grpId="0" bldLvl="0" animBg="1"/>
      <p:bldP spid="8" grpId="0" bldLvl="0" animBg="1"/>
      <p:bldP spid="10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5714"/>
            <a:ext cx="12192000" cy="718985"/>
          </a:xfrm>
          <a:prstGeom prst="rect">
            <a:avLst/>
          </a:prstGeom>
          <a:solidFill>
            <a:srgbClr val="9D0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310515" y="93345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zh-CN" altLang="en-US" sz="32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540000"/>
            <a:ext cx="222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556000" y="2540000"/>
            <a:ext cx="222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89000" y="4318000"/>
            <a:ext cx="222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3556000" y="4318000"/>
            <a:ext cx="2222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477000" y="165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048500" y="2514600"/>
            <a:ext cx="177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30480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271000" y="3048000"/>
            <a:ext cx="2222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048500" y="4292600"/>
            <a:ext cx="177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604000" y="4762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715500" y="4292600"/>
            <a:ext cx="177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271000" y="4762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84" name="矩形 83"/>
          <p:cNvSpPr/>
          <p:nvPr/>
        </p:nvSpPr>
        <p:spPr>
          <a:xfrm>
            <a:off x="3689206" y="-12602"/>
            <a:ext cx="1620000" cy="74451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研究意义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10158743" y="-12603"/>
            <a:ext cx="1589951" cy="74451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结语致谢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068051" y="-12602"/>
            <a:ext cx="1620000" cy="74451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选题背景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306770" y="-5808"/>
            <a:ext cx="1619885" cy="738411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工作流展示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26580" y="-5715"/>
            <a:ext cx="1621155" cy="745490"/>
          </a:xfrm>
          <a:prstGeom prst="rect">
            <a:avLst/>
          </a:prstGeom>
          <a:solidFill>
            <a:srgbClr val="FBFBF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rgbClr val="765B59"/>
                </a:solidFill>
                <a:cs typeface="+mn-ea"/>
                <a:sym typeface="+mn-lt"/>
              </a:rPr>
              <a:t>研究内容</a:t>
            </a:r>
            <a:endParaRPr lang="zh-CN" altLang="en-US" sz="1600" dirty="0">
              <a:solidFill>
                <a:srgbClr val="765B59"/>
              </a:solidFill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545195" y="-12700"/>
            <a:ext cx="1621155" cy="802640"/>
          </a:xfrm>
          <a:prstGeom prst="rect">
            <a:avLst/>
          </a:prstGeom>
          <a:solidFill>
            <a:srgbClr val="A622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成果展示</a:t>
            </a:r>
            <a:endParaRPr lang="zh-CN" altLang="en-US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074" t="14426" b="13696"/>
          <a:stretch>
            <a:fillRect/>
          </a:stretch>
        </p:blipFill>
        <p:spPr>
          <a:xfrm>
            <a:off x="21630" y="146241"/>
            <a:ext cx="1890395" cy="457835"/>
          </a:xfrm>
          <a:prstGeom prst="rect">
            <a:avLst/>
          </a:prstGeom>
        </p:spPr>
      </p:pic>
      <p:pic>
        <p:nvPicPr>
          <p:cNvPr id="15" name="图片 14" descr="ChatGPT Image 2026年6月15日 18_14_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" y="802640"/>
            <a:ext cx="10758170" cy="6055360"/>
          </a:xfrm>
          <a:prstGeom prst="rect">
            <a:avLst/>
          </a:prstGeom>
        </p:spPr>
      </p:pic>
      <p:sp>
        <p:nvSpPr>
          <p:cNvPr id="16" name="圆角矩形 15"/>
          <p:cNvSpPr/>
          <p:nvPr/>
        </p:nvSpPr>
        <p:spPr>
          <a:xfrm>
            <a:off x="2635250" y="2600325"/>
            <a:ext cx="1136015" cy="1651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bldLvl="0" animBg="1"/>
      <p:bldP spid="88" grpId="0" bldLvl="0" animBg="1"/>
      <p:bldP spid="6" grpId="0" bldLvl="0" animBg="1"/>
      <p:bldP spid="8" grpId="0" bldLvl="0" animBg="1"/>
      <p:bldP spid="10" grpId="0" bldLvl="0" animBg="1"/>
      <p:bldP spid="12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60" b="8260"/>
          <a:stretch>
            <a:fillRect/>
          </a:stretch>
        </p:blipFill>
        <p:spPr bwMode="auto">
          <a:xfrm>
            <a:off x="0" y="2013272"/>
            <a:ext cx="12187003" cy="317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矩形 27"/>
          <p:cNvSpPr/>
          <p:nvPr/>
        </p:nvSpPr>
        <p:spPr>
          <a:xfrm>
            <a:off x="0" y="2007321"/>
            <a:ext cx="12191999" cy="3183250"/>
          </a:xfrm>
          <a:prstGeom prst="rect">
            <a:avLst/>
          </a:prstGeom>
          <a:gradFill>
            <a:gsLst>
              <a:gs pos="0">
                <a:srgbClr val="A3050E"/>
              </a:gs>
              <a:gs pos="74000">
                <a:srgbClr val="A3050E">
                  <a:alpha val="60000"/>
                </a:srgbClr>
              </a:gs>
              <a:gs pos="37000">
                <a:srgbClr val="A3050E">
                  <a:alpha val="80000"/>
                </a:srgbClr>
              </a:gs>
              <a:gs pos="100000">
                <a:srgbClr val="A3050E">
                  <a:alpha val="90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cxnSp>
        <p:nvCxnSpPr>
          <p:cNvPr id="44" name="直接连接符 43"/>
          <p:cNvCxnSpPr>
            <a:endCxn id="22" idx="1"/>
          </p:cNvCxnSpPr>
          <p:nvPr/>
        </p:nvCxnSpPr>
        <p:spPr>
          <a:xfrm>
            <a:off x="-884420" y="5455934"/>
            <a:ext cx="6228990" cy="43224"/>
          </a:xfrm>
          <a:prstGeom prst="line">
            <a:avLst/>
          </a:prstGeom>
          <a:noFill/>
          <a:ln w="38100" cap="flat" cmpd="sng" algn="ctr">
            <a:solidFill>
              <a:srgbClr val="961318"/>
            </a:solidFill>
            <a:prstDash val="solid"/>
            <a:miter lim="800000"/>
          </a:ln>
          <a:effectLst/>
        </p:spPr>
      </p:cxnSp>
      <p:cxnSp>
        <p:nvCxnSpPr>
          <p:cNvPr id="45" name="直接连接符 44"/>
          <p:cNvCxnSpPr>
            <a:stCxn id="22" idx="3"/>
          </p:cNvCxnSpPr>
          <p:nvPr/>
        </p:nvCxnSpPr>
        <p:spPr>
          <a:xfrm flipV="1">
            <a:off x="6870876" y="5455934"/>
            <a:ext cx="5975694" cy="43224"/>
          </a:xfrm>
          <a:prstGeom prst="line">
            <a:avLst/>
          </a:prstGeom>
          <a:noFill/>
          <a:ln w="38100" cap="flat" cmpd="sng" algn="ctr">
            <a:solidFill>
              <a:srgbClr val="961318"/>
            </a:solidFill>
            <a:prstDash val="solid"/>
            <a:miter lim="800000"/>
          </a:ln>
          <a:effectLst/>
        </p:spPr>
      </p:cxnSp>
      <p:grpSp>
        <p:nvGrpSpPr>
          <p:cNvPr id="18" name="组合 17"/>
          <p:cNvGrpSpPr/>
          <p:nvPr/>
        </p:nvGrpSpPr>
        <p:grpSpPr>
          <a:xfrm>
            <a:off x="3586143" y="445639"/>
            <a:ext cx="4751224" cy="1310637"/>
            <a:chOff x="1013385" y="386506"/>
            <a:chExt cx="4228542" cy="1166454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3385" y="386506"/>
              <a:ext cx="1161573" cy="1166454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301895" y="541744"/>
              <a:ext cx="2896218" cy="640678"/>
            </a:xfrm>
            <a:prstGeom prst="rect">
              <a:avLst/>
            </a:prstGeom>
          </p:spPr>
        </p:pic>
        <p:sp>
          <p:nvSpPr>
            <p:cNvPr id="21" name="矩形 20"/>
            <p:cNvSpPr/>
            <p:nvPr/>
          </p:nvSpPr>
          <p:spPr>
            <a:xfrm>
              <a:off x="2301895" y="1128876"/>
              <a:ext cx="2940032" cy="3013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RENMIN UNIVERSITY OF CHINA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12312" y="5298734"/>
            <a:ext cx="1390821" cy="400848"/>
          </a:xfrm>
          <a:prstGeom prst="rect">
            <a:avLst/>
          </a:prstGeom>
        </p:spPr>
      </p:pic>
      <p:sp>
        <p:nvSpPr>
          <p:cNvPr id="2" name="Rectangle 10"/>
          <p:cNvSpPr/>
          <p:nvPr/>
        </p:nvSpPr>
        <p:spPr>
          <a:xfrm>
            <a:off x="187936" y="4324509"/>
            <a:ext cx="808655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2000" b="1" dirty="0">
                <a:solidFill>
                  <a:prstClr val="white"/>
                </a:solidFill>
                <a:latin typeface="微软雅黑 Light" panose="020B0502040204020203" pitchFamily="34" charset="-122"/>
              </a:rPr>
              <a:t>THANKS FOR YOUR LISTENING</a:t>
            </a:r>
            <a:r>
              <a:rPr lang="en-US" altLang="zh-CN" sz="2000" b="1" i="1" dirty="0">
                <a:solidFill>
                  <a:prstClr val="white"/>
                </a:solidFill>
                <a:latin typeface="微软雅黑 Light" panose="020B0502040204020203" pitchFamily="34" charset="-122"/>
              </a:rPr>
              <a:t>!</a:t>
            </a:r>
            <a:endParaRPr lang="en-US" altLang="zh-CN" sz="2000" b="1" i="1" dirty="0">
              <a:solidFill>
                <a:prstClr val="white"/>
              </a:solidFill>
              <a:latin typeface="微软雅黑 Light" panose="020B0502040204020203" pitchFamily="34" charset="-122"/>
            </a:endParaRPr>
          </a:p>
        </p:txBody>
      </p:sp>
      <p:sp>
        <p:nvSpPr>
          <p:cNvPr id="3" name="Rectangle 9"/>
          <p:cNvSpPr/>
          <p:nvPr/>
        </p:nvSpPr>
        <p:spPr>
          <a:xfrm>
            <a:off x="-267" y="2455246"/>
            <a:ext cx="8337367" cy="3599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40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阿里巴巴普惠体 B" panose="00020600040101010101" pitchFamily="18" charset="-122"/>
                <a:sym typeface="+mn-ea"/>
              </a:rPr>
              <a:t>基于</a:t>
            </a:r>
            <a:r>
              <a:rPr lang="en-US" altLang="zh-CN" sz="40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阿里巴巴普惠体 B" panose="00020600040101010101" pitchFamily="18" charset="-122"/>
                <a:sym typeface="+mn-ea"/>
              </a:rPr>
              <a:t>SOP</a:t>
            </a:r>
            <a:r>
              <a:rPr lang="zh-CN" altLang="en-US" sz="40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阿里巴巴普惠体 B" panose="00020600040101010101" pitchFamily="18" charset="-122"/>
                <a:sym typeface="+mn-ea"/>
              </a:rPr>
              <a:t>的角色化农业咨询对话生成数据集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阿里巴巴普惠体 B" panose="00020600040101010101" pitchFamily="18" charset="-122"/>
            </a:endParaRPr>
          </a:p>
          <a:p>
            <a:pPr algn="ctr">
              <a:lnSpc>
                <a:spcPct val="130000"/>
              </a:lnSpc>
            </a:pPr>
            <a:endParaRPr lang="en-US" altLang="zh-CN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zh-CN" altLang="en-US" sz="7200" b="1" i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阿里巴巴普惠体 B" panose="00020600040101010101" pitchFamily="18" charset="-122"/>
            </a:endParaRPr>
          </a:p>
        </p:txBody>
      </p:sp>
      <p:pic>
        <p:nvPicPr>
          <p:cNvPr id="4" name="图片 3" descr="查看图片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2429" y="1170401"/>
            <a:ext cx="3236478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43.0576377952756,&quot;left&quot;:132.75,&quot;top&quot;:94.3620472440945,&quot;width&quot;:499.45}"/>
</p:tagLst>
</file>

<file path=ppt/tags/tag2.xml><?xml version="1.0" encoding="utf-8"?>
<p:tagLst xmlns:p="http://schemas.openxmlformats.org/presentationml/2006/main">
  <p:tag name="KSO_WM_DIAGRAM_VIRTUALLY_FRAME" val="{&quot;height&quot;:343.0576377952756,&quot;left&quot;:132.75,&quot;top&quot;:94.3620472440945,&quot;width&quot;:499.45}"/>
</p:tagLst>
</file>

<file path=ppt/tags/tag3.xml><?xml version="1.0" encoding="utf-8"?>
<p:tagLst xmlns:p="http://schemas.openxmlformats.org/presentationml/2006/main">
  <p:tag name="KSO_WM_DIAGRAM_VIRTUALLY_FRAME" val="{&quot;height&quot;:343.0576377952756,&quot;left&quot;:132.75,&quot;top&quot;:94.3620472440945,&quot;width&quot;:499.45}"/>
</p:tagLst>
</file>

<file path=ppt/tags/tag4.xml><?xml version="1.0" encoding="utf-8"?>
<p:tagLst xmlns:p="http://schemas.openxmlformats.org/presentationml/2006/main">
  <p:tag name="KSO_WM_DIAGRAM_VIRTUALLY_FRAME" val="{&quot;height&quot;:343.0576377952756,&quot;left&quot;:132.75,&quot;top&quot;:94.3620472440945,&quot;width&quot;:499.45}"/>
</p:tagLst>
</file>

<file path=ppt/tags/tag5.xml><?xml version="1.0" encoding="utf-8"?>
<p:tagLst xmlns:p="http://schemas.openxmlformats.org/presentationml/2006/main">
  <p:tag name="KSO_WM_DIAGRAM_VIRTUALLY_FRAME" val="{&quot;height&quot;:343.0576377952756,&quot;left&quot;:132.75,&quot;top&quot;:94.3620472440945,&quot;width&quot;:499.45}"/>
</p:tagLst>
</file>

<file path=ppt/tags/tag6.xml><?xml version="1.0" encoding="utf-8"?>
<p:tagLst xmlns:p="http://schemas.openxmlformats.org/presentationml/2006/main">
  <p:tag name="KSO_WM_DIAGRAM_VIRTUALLY_FRAME" val="{&quot;height&quot;:343.0576377952756,&quot;left&quot;:132.75,&quot;top&quot;:94.3620472440945,&quot;width&quot;:499.45}"/>
</p:tagLst>
</file>

<file path=ppt/tags/tag7.xml><?xml version="1.0" encoding="utf-8"?>
<p:tagLst xmlns:p="http://schemas.openxmlformats.org/presentationml/2006/main">
  <p:tag name="KSO_WM_DIAGRAM_VIRTUALLY_FRAME" val="{&quot;height&quot;:311.0576377952756,&quot;left&quot;:132.75,&quot;top&quot;:126.3620472440945,&quot;width&quot;:499.45}"/>
</p:tagLst>
</file>

<file path=ppt/tags/tag8.xml><?xml version="1.0" encoding="utf-8"?>
<p:tagLst xmlns:p="http://schemas.openxmlformats.org/presentationml/2006/main">
  <p:tag name="KSO_WM_DIAGRAM_VIRTUALLY_FRAME" val="{&quot;height&quot;:311.0576377952756,&quot;left&quot;:132.75,&quot;top&quot;:126.3620472440945,&quot;width&quot;:499.45}"/>
</p:tagLst>
</file>

<file path=ppt/tags/tag9.xml><?xml version="1.0" encoding="utf-8"?>
<p:tagLst xmlns:p="http://schemas.openxmlformats.org/presentationml/2006/main">
  <p:tag name="KSO_WM_DIAGRAM_VIRTUALLY_FRAME" val="{&quot;height&quot;:343.0576377952756,&quot;left&quot;:132.75,&quot;top&quot;:94.3620472440945,&quot;width&quot;:499.45}"/>
</p:tagLst>
</file>

<file path=ppt/tags/tag10.xml><?xml version="1.0" encoding="utf-8"?>
<p:tagLst xmlns:p="http://schemas.openxmlformats.org/presentationml/2006/main">
  <p:tag name="KSO_WM_DIAGRAM_VIRTUALLY_FRAME" val="{&quot;height&quot;:343.0576377952756,&quot;left&quot;:132.75,&quot;top&quot;:94.3620472440945,&quot;width&quot;:499.45}"/>
</p:tagLst>
</file>

<file path=ppt/theme/theme1.xml><?xml version="1.0" encoding="utf-8"?>
<a:theme xmlns:a="http://schemas.openxmlformats.org/drawingml/2006/main" name="2_Office 主题​​">
  <a:themeElements>
    <a:clrScheme name="西大模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34C9C"/>
      </a:accent1>
      <a:accent2>
        <a:srgbClr val="FFA405"/>
      </a:accent2>
      <a:accent3>
        <a:srgbClr val="B5B5B5"/>
      </a:accent3>
      <a:accent4>
        <a:srgbClr val="D4D9DD"/>
      </a:accent4>
      <a:accent5>
        <a:srgbClr val="66BE96"/>
      </a:accent5>
      <a:accent6>
        <a:srgbClr val="104685"/>
      </a:accent6>
      <a:hlink>
        <a:srgbClr val="0563C1"/>
      </a:hlink>
      <a:folHlink>
        <a:srgbClr val="954F72"/>
      </a:folHlink>
    </a:clrScheme>
    <a:fontScheme name="西大模板">
      <a:majorFont>
        <a:latin typeface="Segoe UI Black"/>
        <a:ea typeface="思源宋体 CN Heavy"/>
        <a:cs typeface=""/>
      </a:majorFont>
      <a:minorFont>
        <a:latin typeface="Segoe UI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2000" dirty="0" smtClean="0">
            <a:latin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1605</Words>
  <Application>WPS 演示</Application>
  <PresentationFormat>宽屏</PresentationFormat>
  <Paragraphs>180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8" baseType="lpstr">
      <vt:lpstr>Arial</vt:lpstr>
      <vt:lpstr>宋体</vt:lpstr>
      <vt:lpstr>Wingdings</vt:lpstr>
      <vt:lpstr>Segoe UI</vt:lpstr>
      <vt:lpstr>微软雅黑</vt:lpstr>
      <vt:lpstr>管峻楷书简体</vt:lpstr>
      <vt:lpstr>思源宋体 CN Heavy</vt:lpstr>
      <vt:lpstr>Arial</vt:lpstr>
      <vt:lpstr>阿里巴巴普惠体 B</vt:lpstr>
      <vt:lpstr>微软雅黑 Light</vt:lpstr>
      <vt:lpstr>Calibri</vt:lpstr>
      <vt:lpstr>黑体</vt:lpstr>
      <vt:lpstr>Calibri</vt:lpstr>
      <vt:lpstr>Noto Sans SC</vt:lpstr>
      <vt:lpstr>Arial Unicode MS</vt:lpstr>
      <vt:lpstr>Segoe UI Black</vt:lpstr>
      <vt:lpstr>Segoe UI Light</vt:lpstr>
      <vt:lpstr>等线</vt:lpstr>
      <vt:lpstr>Segoe UI</vt:lpstr>
      <vt:lpstr>思源宋体 CN Heavy</vt:lpstr>
      <vt:lpstr>管峻楷书简体</vt:lpstr>
      <vt:lpstr>阿里巴巴普惠体 B</vt:lpstr>
      <vt:lpstr>Segoe Print</vt:lpstr>
      <vt:lpstr>方正管峻楷书_GBK</vt:lpstr>
      <vt:lpstr>兰米宋体</vt:lpstr>
      <vt:lpstr>阿里巴巴和七个小矮人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465</cp:lastModifiedBy>
  <cp:revision>45</cp:revision>
  <dcterms:created xsi:type="dcterms:W3CDTF">2020-11-02T12:56:00Z</dcterms:created>
  <dcterms:modified xsi:type="dcterms:W3CDTF">2026-06-15T16:12:18Z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F22894D6D0D345E8829BEB9A2E40913F_13</vt:lpwstr>
  </property>
  <property fmtid="{D5CDD505-2E9C-101B-9397-08002B2CF9AE}" pid="3" name="KSOProductBuildVer">
    <vt:lpwstr>2052-12.1.0.26375</vt:lpwstr>
  </property>
</Properties>
</file>